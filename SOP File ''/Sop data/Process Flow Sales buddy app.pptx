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85" r:id="rId5"/>
    <p:sldId id="279" r:id="rId6"/>
    <p:sldId id="284" r:id="rId7"/>
    <p:sldId id="282" r:id="rId8"/>
    <p:sldId id="283" r:id="rId9"/>
    <p:sldId id="286" r:id="rId10"/>
    <p:sldId id="287" r:id="rId11"/>
    <p:sldId id="288" r:id="rId12"/>
    <p:sldId id="289" r:id="rId13"/>
    <p:sldId id="29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3"/>
  </p:normalViewPr>
  <p:slideViewPr>
    <p:cSldViewPr snapToGrid="0" snapToObjects="1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F7149A-C783-9545-BB2D-C32C3EB50D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BDA04-FA32-F14C-9588-E4E56DE264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23522-B732-C349-8425-C78CC46BD08F}" type="datetimeFigureOut">
              <a:rPr lang="en-US" smtClean="0"/>
              <a:t>3/1/2025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87153C-4EF8-184F-A78C-8B80FE833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8F6C-F787-D54B-8FA5-B3B6DAD8154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A4DC3-B472-1444-8BE2-9FC77699FA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1469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F1815-BB47-1B45-86BF-6EFDA7641315}" type="datetimeFigureOut">
              <a:rPr lang="en-US" smtClean="0"/>
              <a:t>3/1/2025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291C8-0412-C645-B778-6F316880E0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062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73EF-AD41-E53B-303F-D4097EA28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2351F-C3B8-46B8-5F94-A94AD1A18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6FA0E-FAB3-13D4-6FB1-757ED4650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4EF59-66A7-817B-B134-399A68E39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291C8-0412-C645-B778-6F316880E04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334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291C8-0412-C645-B778-6F316880E04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863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12EE-3A6A-5473-FDD3-75842441A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7E4DC-3831-E3FA-F7E2-75C052429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B3425-49F0-29F3-752A-4A0C16E11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B79EF-52B5-6976-BA92-E453E1197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291C8-0412-C645-B778-6F316880E04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0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B0F00-BF50-7D10-756F-B063C081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066621-D252-7C62-A6E2-B9B04E3E3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7B464F-14E5-835F-6A74-F011E54FE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FB559-AB9E-1779-C518-A7D1CD01C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291C8-0412-C645-B778-6F316880E04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535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B1E0-E30B-DFF3-16DF-E8E0D75FF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3C1C7-B8E3-D7D0-8FE1-40D48F281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3CD9D-2AA2-C31D-0208-35ABF6F92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45FCF-470F-9341-CA49-FA1A4E5B9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291C8-0412-C645-B778-6F316880E04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16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63FCC-0EAC-9E7A-16B8-4B02625A8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37C7A-6AEB-1946-8EF1-636503B11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DA01B-D44C-9BCC-D4AF-1F174F721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C4CF2-EBDE-3C74-D21C-B12193C42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291C8-0412-C645-B778-6F316880E04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299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7034-888C-6C53-57A1-12E8A4B79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C73C2-11DA-12D7-E345-8C8820714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644FA-048A-83AE-143A-6A3023E030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26F33-9379-FECC-8F1D-56567335C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291C8-0412-C645-B778-6F316880E04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628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0EB83-F946-C13C-E868-402540AE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C3552-5112-E215-787C-617A99554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C3F4A-D7BD-C78F-CF05-E049227BA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C3517-B805-1F26-0B9D-FEC3891A8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291C8-0412-C645-B778-6F316880E04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517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62D33-CD4B-E08B-9C8D-11DFBC6B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BDCAC-DD70-F81B-EBA5-37736ECC6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7076B-6726-CDD1-73ED-7E1E44693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17C97-CAED-EE35-5429-CD39C80F4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291C8-0412-C645-B778-6F316880E04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8209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0C063-335A-4F0A-8484-C176FE40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FF068-8735-C26E-7809-4A01CF1F3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2B9670-255B-794C-F6D2-FEE55BE7A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C76B5-0E20-57B3-6B1B-22EC2C1F7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291C8-0412-C645-B778-6F316880E04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114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ded Corner 5">
            <a:extLst>
              <a:ext uri="{FF2B5EF4-FFF2-40B4-BE49-F238E27FC236}">
                <a16:creationId xmlns:a16="http://schemas.microsoft.com/office/drawing/2014/main" id="{D4A50170-EE3B-45A1-A3D8-3E86A25CF85E}"/>
              </a:ext>
            </a:extLst>
          </p:cNvPr>
          <p:cNvSpPr/>
          <p:nvPr userDrawn="1"/>
        </p:nvSpPr>
        <p:spPr>
          <a:xfrm>
            <a:off x="226868" y="237331"/>
            <a:ext cx="11738264" cy="6383339"/>
          </a:xfrm>
          <a:prstGeom prst="foldedCorner">
            <a:avLst/>
          </a:prstGeom>
          <a:solidFill>
            <a:schemeClr val="bg1"/>
          </a:solidFill>
          <a:ln>
            <a:noFill/>
          </a:ln>
          <a:effectLst>
            <a:innerShdw blurRad="723900">
              <a:prstClr val="black">
                <a:alpha val="28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AA2AF7-10D1-4725-BFDE-0308A0E5D898}"/>
              </a:ext>
            </a:extLst>
          </p:cNvPr>
          <p:cNvSpPr/>
          <p:nvPr userDrawn="1"/>
        </p:nvSpPr>
        <p:spPr>
          <a:xfrm>
            <a:off x="226868" y="102628"/>
            <a:ext cx="11738264" cy="262499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7DE85-CFAC-4CA7-A0CD-73E93035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1" kern="1200" dirty="0">
                <a:gradFill>
                  <a:gsLst>
                    <a:gs pos="100000">
                      <a:schemeClr val="accent2"/>
                    </a:gs>
                    <a:gs pos="0">
                      <a:schemeClr val="accent3"/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1B62-1A0B-41D8-98B4-EBA74A71B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630CE-9DD3-4FF5-B5CC-8EFBA236F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A335-73CC-4392-A78D-67717F97EE04}" type="datetimeFigureOut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46E04-D59E-4651-A726-8855DDF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B6B81-AC16-4FA5-9FEB-E7A52781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411A-A69C-46F0-859B-4EE9C8BD95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319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v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F409-7AC1-4347-85CE-7EB170EF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29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9A30B-321E-AF41-ACD8-AC98E0C19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426725" cy="365125"/>
          </a:xfrm>
        </p:spPr>
        <p:txBody>
          <a:bodyPr/>
          <a:lstStyle/>
          <a:p>
            <a:fld id="{98F9CE58-73B0-5D45-897D-A47D080F16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8A4624-A608-B841-8037-7DBFD851A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09522"/>
            <a:ext cx="10515600" cy="84296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538062-2A32-824C-9734-26C018B7DDC3}"/>
              </a:ext>
            </a:extLst>
          </p:cNvPr>
          <p:cNvCxnSpPr/>
          <p:nvPr userDrawn="1"/>
        </p:nvCxnSpPr>
        <p:spPr>
          <a:xfrm>
            <a:off x="4873787" y="1183396"/>
            <a:ext cx="2444426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lded Corner 12">
            <a:extLst>
              <a:ext uri="{FF2B5EF4-FFF2-40B4-BE49-F238E27FC236}">
                <a16:creationId xmlns:a16="http://schemas.microsoft.com/office/drawing/2014/main" id="{D5D9E18D-896E-3140-8C23-8D9CDF29D140}"/>
              </a:ext>
            </a:extLst>
          </p:cNvPr>
          <p:cNvSpPr/>
          <p:nvPr userDrawn="1"/>
        </p:nvSpPr>
        <p:spPr>
          <a:xfrm>
            <a:off x="226868" y="2168525"/>
            <a:ext cx="11738264" cy="4351338"/>
          </a:xfrm>
          <a:prstGeom prst="foldedCorner">
            <a:avLst/>
          </a:prstGeom>
          <a:solidFill>
            <a:schemeClr val="bg1"/>
          </a:solidFill>
          <a:ln>
            <a:noFill/>
          </a:ln>
          <a:effectLst>
            <a:innerShdw blurRad="723900">
              <a:prstClr val="black">
                <a:alpha val="28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B1F3DF-ACBD-B14C-B448-C93B9A8AB560}"/>
              </a:ext>
            </a:extLst>
          </p:cNvPr>
          <p:cNvSpPr/>
          <p:nvPr userDrawn="1"/>
        </p:nvSpPr>
        <p:spPr>
          <a:xfrm>
            <a:off x="226868" y="2163338"/>
            <a:ext cx="11738264" cy="262498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FEA35-0CD5-458E-9F01-915F845D08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425701"/>
            <a:ext cx="10515600" cy="3930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63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ded Corner 5">
            <a:extLst>
              <a:ext uri="{FF2B5EF4-FFF2-40B4-BE49-F238E27FC236}">
                <a16:creationId xmlns:a16="http://schemas.microsoft.com/office/drawing/2014/main" id="{2FE9E909-5310-4698-A19D-E5420BB60D3D}"/>
              </a:ext>
            </a:extLst>
          </p:cNvPr>
          <p:cNvSpPr/>
          <p:nvPr userDrawn="1"/>
        </p:nvSpPr>
        <p:spPr>
          <a:xfrm>
            <a:off x="226868" y="237331"/>
            <a:ext cx="11738264" cy="6383339"/>
          </a:xfrm>
          <a:prstGeom prst="foldedCorner">
            <a:avLst/>
          </a:prstGeom>
          <a:solidFill>
            <a:schemeClr val="bg1"/>
          </a:solidFill>
          <a:ln>
            <a:noFill/>
          </a:ln>
          <a:effectLst>
            <a:innerShdw blurRad="723900">
              <a:prstClr val="black">
                <a:alpha val="28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924633-7E22-4687-A5CA-0287D2CAF045}"/>
              </a:ext>
            </a:extLst>
          </p:cNvPr>
          <p:cNvSpPr/>
          <p:nvPr userDrawn="1"/>
        </p:nvSpPr>
        <p:spPr>
          <a:xfrm>
            <a:off x="226868" y="102628"/>
            <a:ext cx="11738264" cy="26249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7DE85-CFAC-4CA7-A0CD-73E93035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b="1" kern="120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1B62-1A0B-41D8-98B4-EBA74A71B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630CE-9DD3-4FF5-B5CC-8EFBA236F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A335-73CC-4392-A78D-67717F97EE04}" type="datetimeFigureOut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46E04-D59E-4651-A726-8855DDF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B6B81-AC16-4FA5-9FEB-E7A52781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411A-A69C-46F0-859B-4EE9C8BD95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566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_v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F409-7AC1-4347-85CE-7EB170EF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29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9A30B-321E-AF41-ACD8-AC98E0C19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9CE58-73B0-5D45-897D-A47D080F16A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8A4624-A608-B841-8037-7DBFD851A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09522"/>
            <a:ext cx="10515600" cy="84296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538062-2A32-824C-9734-26C018B7DDC3}"/>
              </a:ext>
            </a:extLst>
          </p:cNvPr>
          <p:cNvCxnSpPr/>
          <p:nvPr userDrawn="1"/>
        </p:nvCxnSpPr>
        <p:spPr>
          <a:xfrm>
            <a:off x="4873787" y="1183396"/>
            <a:ext cx="2444426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lded Corner 12">
            <a:extLst>
              <a:ext uri="{FF2B5EF4-FFF2-40B4-BE49-F238E27FC236}">
                <a16:creationId xmlns:a16="http://schemas.microsoft.com/office/drawing/2014/main" id="{D5D9E18D-896E-3140-8C23-8D9CDF29D140}"/>
              </a:ext>
            </a:extLst>
          </p:cNvPr>
          <p:cNvSpPr/>
          <p:nvPr userDrawn="1"/>
        </p:nvSpPr>
        <p:spPr>
          <a:xfrm>
            <a:off x="226868" y="2168525"/>
            <a:ext cx="11738264" cy="4351338"/>
          </a:xfrm>
          <a:prstGeom prst="foldedCorner">
            <a:avLst/>
          </a:prstGeom>
          <a:solidFill>
            <a:schemeClr val="bg1"/>
          </a:solidFill>
          <a:ln>
            <a:noFill/>
          </a:ln>
          <a:effectLst>
            <a:innerShdw blurRad="723900">
              <a:prstClr val="black">
                <a:alpha val="28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B1F3DF-ACBD-B14C-B448-C93B9A8AB560}"/>
              </a:ext>
            </a:extLst>
          </p:cNvPr>
          <p:cNvSpPr/>
          <p:nvPr userDrawn="1"/>
        </p:nvSpPr>
        <p:spPr>
          <a:xfrm>
            <a:off x="226868" y="2163338"/>
            <a:ext cx="11738264" cy="26249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9941F0-83AD-4DB2-A0FB-AF5FD7478A7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425701"/>
            <a:ext cx="10515600" cy="3930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885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D83998-782D-6448-8B7A-EDBD9DC2F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7F969-EF4F-134E-890D-87B530078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F3026-5B9C-3C46-ACA9-6E8EAF74B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82EB3-AABA-8A4C-B355-F1700B3A1085}" type="datetimeFigureOut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F9DA2-072C-024F-8CCA-B8838D7BC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25A74-1380-514E-A1F6-86F04854B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4267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9CE58-73B0-5D45-897D-A47D080F16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50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2" r:id="rId2"/>
    <p:sldLayoutId id="2147483672" r:id="rId3"/>
    <p:sldLayoutId id="214748367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A1471-A2C6-B953-DBFA-A103E472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53C2-C853-CDB3-558F-32A2AC15D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012" y="2682243"/>
            <a:ext cx="6941975" cy="1325563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Bizloan Sales Buddy App</a:t>
            </a:r>
          </a:p>
        </p:txBody>
      </p:sp>
    </p:spTree>
    <p:extLst>
      <p:ext uri="{BB962C8B-B14F-4D97-AF65-F5344CB8AC3E}">
        <p14:creationId xmlns:p14="http://schemas.microsoft.com/office/powerpoint/2010/main" val="2850360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19CA-3B43-46C2-99D7-CA9D4D26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65" y="365027"/>
            <a:ext cx="5363547" cy="1325563"/>
          </a:xfrm>
        </p:spPr>
        <p:txBody>
          <a:bodyPr/>
          <a:lstStyle/>
          <a:p>
            <a:r>
              <a:rPr lang="en-US" dirty="0"/>
              <a:t>Check in Process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6E9B47-5293-FE51-E058-DE72CB1A4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70983" y="1447995"/>
            <a:ext cx="2107391" cy="435133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0A7A13-587D-9BCE-3E59-68D7FA126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0099" y="1447995"/>
            <a:ext cx="2153053" cy="435133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AA7F4A-95AB-624E-CAF7-1F453262D768}"/>
              </a:ext>
            </a:extLst>
          </p:cNvPr>
          <p:cNvSpPr/>
          <p:nvPr/>
        </p:nvSpPr>
        <p:spPr>
          <a:xfrm>
            <a:off x="559451" y="1447996"/>
            <a:ext cx="5272182" cy="406639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br>
              <a:rPr lang="en-US" dirty="0"/>
            </a:br>
            <a:r>
              <a:rPr lang="en-US" sz="1200" dirty="0"/>
              <a:t>All employees, including RM, BM, and senior executives, use the same login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Steps to Login:</a:t>
            </a: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Select </a:t>
            </a:r>
            <a:r>
              <a:rPr lang="en-US" sz="1200" b="1" dirty="0"/>
              <a:t>"Login as Employee"</a:t>
            </a:r>
            <a:r>
              <a:rPr lang="en-US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Enter the </a:t>
            </a:r>
            <a:r>
              <a:rPr lang="en-US" sz="1200" b="1" dirty="0"/>
              <a:t>registered phone number</a:t>
            </a:r>
            <a:r>
              <a:rPr lang="en-US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Enter the </a:t>
            </a:r>
            <a:r>
              <a:rPr lang="en-US" sz="1200" b="1" dirty="0"/>
              <a:t>employee code</a:t>
            </a:r>
            <a:r>
              <a:rPr lang="en-US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Enter the </a:t>
            </a:r>
            <a:r>
              <a:rPr lang="en-US" sz="1200" b="1" dirty="0"/>
              <a:t>password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Note: </a:t>
            </a:r>
            <a:r>
              <a:rPr lang="en-US" sz="1200" dirty="0"/>
              <a:t>Employee login credentials (e.g., for RM, BM, etc.) are created by the backend team through the admin panel.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Mandatory Check-In </a:t>
            </a:r>
            <a:r>
              <a:rPr lang="en-US" sz="1200" dirty="0"/>
              <a:t>After successful login, every employee (RM, BM, etc.) must complete a check-in before working on the app.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 check-in process involves: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Capturing a </a:t>
            </a:r>
            <a:r>
              <a:rPr lang="en-US" sz="1200" b="1" dirty="0"/>
              <a:t>photo</a:t>
            </a:r>
            <a:r>
              <a:rPr lang="en-US" sz="1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It will record the employee’s </a:t>
            </a:r>
            <a:r>
              <a:rPr lang="en-US" sz="1200" b="1" dirty="0"/>
              <a:t>current latitude and longitude</a:t>
            </a:r>
            <a:r>
              <a:rPr lang="en-US" sz="1200" dirty="0"/>
              <a:t> automatically.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927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16223-C2FF-F28B-CDAD-EA4518DF4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9E75-ACB1-FAD0-3609-C67A4048B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947" y="2766218"/>
            <a:ext cx="5363547" cy="1325563"/>
          </a:xfrm>
        </p:spPr>
        <p:txBody>
          <a:bodyPr>
            <a:normAutofit/>
          </a:bodyPr>
          <a:lstStyle/>
          <a:p>
            <a:r>
              <a:rPr lang="en-US" sz="5400" dirty="0"/>
              <a:t>BM Role</a:t>
            </a:r>
          </a:p>
        </p:txBody>
      </p:sp>
    </p:spTree>
    <p:extLst>
      <p:ext uri="{BB962C8B-B14F-4D97-AF65-F5344CB8AC3E}">
        <p14:creationId xmlns:p14="http://schemas.microsoft.com/office/powerpoint/2010/main" val="3376460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50F14-3215-B906-261C-DEF3F616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9EA23-990C-4CC7-7D4A-75E318BD4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65" y="365027"/>
            <a:ext cx="5363547" cy="1325563"/>
          </a:xfrm>
        </p:spPr>
        <p:txBody>
          <a:bodyPr/>
          <a:lstStyle/>
          <a:p>
            <a:r>
              <a:rPr lang="en-US" dirty="0"/>
              <a:t>Steps to Create Beat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883BD5-80C2-0201-7E70-91726813E6AD}"/>
              </a:ext>
            </a:extLst>
          </p:cNvPr>
          <p:cNvSpPr/>
          <p:nvPr/>
        </p:nvSpPr>
        <p:spPr>
          <a:xfrm>
            <a:off x="5596812" y="462432"/>
            <a:ext cx="4547504" cy="10543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br>
              <a:rPr lang="en-US" dirty="0"/>
            </a:br>
            <a:r>
              <a:rPr lang="en-US" sz="1400" dirty="0"/>
              <a:t>BM Responsibilities:</a:t>
            </a:r>
          </a:p>
          <a:p>
            <a:r>
              <a:rPr lang="en-US" sz="1400" dirty="0"/>
              <a:t>1.Create a Beat</a:t>
            </a:r>
          </a:p>
          <a:p>
            <a:r>
              <a:rPr lang="en-US" sz="1400" dirty="0"/>
              <a:t>2. Assign a Created Beat to RM</a:t>
            </a:r>
            <a:endParaRPr lang="en-US" sz="1200" dirty="0"/>
          </a:p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55A79-8F69-B446-2FEB-E9F9ECA69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5" y="1614196"/>
            <a:ext cx="2153053" cy="438529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8315391-7B66-328F-9BD7-51FB8CFA5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290023" y="1614196"/>
            <a:ext cx="2129059" cy="4351337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EB815D-02AC-234F-8774-8764113C1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1256" y="1614196"/>
            <a:ext cx="2082357" cy="427047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A5337B-A05B-662C-2129-61DC3BA8E17F}"/>
              </a:ext>
            </a:extLst>
          </p:cNvPr>
          <p:cNvCxnSpPr>
            <a:cxnSpLocks/>
          </p:cNvCxnSpPr>
          <p:nvPr/>
        </p:nvCxnSpPr>
        <p:spPr>
          <a:xfrm>
            <a:off x="2915039" y="3629608"/>
            <a:ext cx="23749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A2AB21A-D6A9-8B89-3B2E-010C89549E2D}"/>
              </a:ext>
            </a:extLst>
          </p:cNvPr>
          <p:cNvSpPr/>
          <p:nvPr/>
        </p:nvSpPr>
        <p:spPr>
          <a:xfrm>
            <a:off x="2915039" y="2416632"/>
            <a:ext cx="2374984" cy="11642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After completing the check-in, go to Settings.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Navigate to the Beat section</a:t>
            </a:r>
            <a:r>
              <a:rPr lang="en-US" sz="1600" dirty="0"/>
              <a:t>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B37CD6-975B-F15B-5D40-20F33A9C2C3D}"/>
              </a:ext>
            </a:extLst>
          </p:cNvPr>
          <p:cNvCxnSpPr>
            <a:cxnSpLocks/>
          </p:cNvCxnSpPr>
          <p:nvPr/>
        </p:nvCxnSpPr>
        <p:spPr>
          <a:xfrm>
            <a:off x="7456077" y="3629608"/>
            <a:ext cx="19581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44C85C3-F4BA-00AB-E349-539FB7E1C031}"/>
              </a:ext>
            </a:extLst>
          </p:cNvPr>
          <p:cNvSpPr/>
          <p:nvPr/>
        </p:nvSpPr>
        <p:spPr>
          <a:xfrm>
            <a:off x="7370639" y="2416632"/>
            <a:ext cx="2129058" cy="11642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To add a new beat, click on the “+ Add" button.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Enter the “Beat Name” to create a new beat.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0EF6BC-8C14-61EE-8B4A-A0806803D554}"/>
              </a:ext>
            </a:extLst>
          </p:cNvPr>
          <p:cNvSpPr/>
          <p:nvPr/>
        </p:nvSpPr>
        <p:spPr>
          <a:xfrm>
            <a:off x="2915038" y="3977956"/>
            <a:ext cx="2374984" cy="46341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 the Beat section, view all existing beats.</a:t>
            </a:r>
          </a:p>
        </p:txBody>
      </p:sp>
    </p:spTree>
    <p:extLst>
      <p:ext uri="{BB962C8B-B14F-4D97-AF65-F5344CB8AC3E}">
        <p14:creationId xmlns:p14="http://schemas.microsoft.com/office/powerpoint/2010/main" val="428787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95C22-6F2E-4CCF-1897-3C8CDF9D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B0521-45DD-C363-A2DE-6838E741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65" y="365027"/>
            <a:ext cx="5363547" cy="1325563"/>
          </a:xfrm>
        </p:spPr>
        <p:txBody>
          <a:bodyPr/>
          <a:lstStyle/>
          <a:p>
            <a:r>
              <a:rPr lang="en-US" dirty="0"/>
              <a:t>Steps to Assign Beat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B39BDE-4F09-7DF8-EC5A-7C39AF410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5" y="1614196"/>
            <a:ext cx="2153053" cy="438529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031962-6666-F350-6339-1183F7E791AA}"/>
              </a:ext>
            </a:extLst>
          </p:cNvPr>
          <p:cNvCxnSpPr>
            <a:cxnSpLocks/>
          </p:cNvCxnSpPr>
          <p:nvPr/>
        </p:nvCxnSpPr>
        <p:spPr>
          <a:xfrm>
            <a:off x="2915039" y="3629608"/>
            <a:ext cx="23749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8930ED-C32D-F59F-F5AD-F36D64A48399}"/>
              </a:ext>
            </a:extLst>
          </p:cNvPr>
          <p:cNvSpPr/>
          <p:nvPr/>
        </p:nvSpPr>
        <p:spPr>
          <a:xfrm>
            <a:off x="2915039" y="2416632"/>
            <a:ext cx="2374984" cy="11642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After creating a beat, go to the Employee section in Settings.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Select the RM to whom you want to assign the beat.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5EF164-EE12-E0BF-DEE2-E08353693E38}"/>
              </a:ext>
            </a:extLst>
          </p:cNvPr>
          <p:cNvCxnSpPr>
            <a:cxnSpLocks/>
          </p:cNvCxnSpPr>
          <p:nvPr/>
        </p:nvCxnSpPr>
        <p:spPr>
          <a:xfrm>
            <a:off x="7456077" y="3629608"/>
            <a:ext cx="19581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DFFCF6C-124F-57B1-79C1-288D3161C525}"/>
              </a:ext>
            </a:extLst>
          </p:cNvPr>
          <p:cNvSpPr/>
          <p:nvPr/>
        </p:nvSpPr>
        <p:spPr>
          <a:xfrm>
            <a:off x="7370639" y="2416632"/>
            <a:ext cx="2129058" cy="11642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Click on the "Assign Beat" button.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Choose the desired beat from the list and assign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C67D0-FCDE-5CF2-D487-16FB3ADE4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667" y="1436962"/>
            <a:ext cx="2145673" cy="43852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BBFFFE-E8E7-F1E0-DCD6-79C42312B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1322" y="1436963"/>
            <a:ext cx="2145673" cy="438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415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2075A-347E-EBEC-9969-EA01628B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930B8-4065-FDBC-DA65-0813AB77F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947" y="2766218"/>
            <a:ext cx="5363547" cy="1325563"/>
          </a:xfrm>
        </p:spPr>
        <p:txBody>
          <a:bodyPr>
            <a:normAutofit/>
          </a:bodyPr>
          <a:lstStyle/>
          <a:p>
            <a:r>
              <a:rPr lang="en-US" sz="5400" dirty="0"/>
              <a:t>RM Role</a:t>
            </a:r>
          </a:p>
        </p:txBody>
      </p:sp>
    </p:spTree>
    <p:extLst>
      <p:ext uri="{BB962C8B-B14F-4D97-AF65-F5344CB8AC3E}">
        <p14:creationId xmlns:p14="http://schemas.microsoft.com/office/powerpoint/2010/main" val="259788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330F7-B4A1-052A-02F5-A0D6C6F0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482C-8BAB-5B38-B5D7-C35940767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66" y="365028"/>
            <a:ext cx="6279502" cy="900819"/>
          </a:xfrm>
        </p:spPr>
        <p:txBody>
          <a:bodyPr/>
          <a:lstStyle/>
          <a:p>
            <a:r>
              <a:rPr lang="en-US" dirty="0"/>
              <a:t>Steps to Create New Lead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3C2E86-84B7-09C2-A357-A14CC546EEDE}"/>
              </a:ext>
            </a:extLst>
          </p:cNvPr>
          <p:cNvSpPr/>
          <p:nvPr/>
        </p:nvSpPr>
        <p:spPr>
          <a:xfrm>
            <a:off x="2769601" y="1821275"/>
            <a:ext cx="2374984" cy="11642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Initiate Lead Creation: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Click on the "+" button located on the Dashboard screen.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Select "Add New Lead".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A047A6-42B6-20F1-067D-44F5DE2696CD}"/>
              </a:ext>
            </a:extLst>
          </p:cNvPr>
          <p:cNvCxnSpPr>
            <a:cxnSpLocks/>
          </p:cNvCxnSpPr>
          <p:nvPr/>
        </p:nvCxnSpPr>
        <p:spPr>
          <a:xfrm>
            <a:off x="7574286" y="4683967"/>
            <a:ext cx="19581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3547042-E871-85A2-629F-256F0966F7E3}"/>
              </a:ext>
            </a:extLst>
          </p:cNvPr>
          <p:cNvSpPr/>
          <p:nvPr/>
        </p:nvSpPr>
        <p:spPr>
          <a:xfrm>
            <a:off x="7508971" y="2076992"/>
            <a:ext cx="1958184" cy="25037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RM need to fill in the following details: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i</a:t>
            </a:r>
            <a:r>
              <a:rPr lang="en-US" sz="1200" dirty="0"/>
              <a:t>) Applicant Details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ii) Co-borrower Information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iii) Applicant KYC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iv) Loan Details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v) Collateral Details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vi) CRIF Information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46D4E7-8983-8EAB-AF5A-C5A357513100}"/>
              </a:ext>
            </a:extLst>
          </p:cNvPr>
          <p:cNvSpPr/>
          <p:nvPr/>
        </p:nvSpPr>
        <p:spPr>
          <a:xfrm>
            <a:off x="2804125" y="3328852"/>
            <a:ext cx="2351971" cy="184030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Upload Image: Click on the image placeholder and upload a mandatory image.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Select Assigned Beat: Choose the beat assigned to the RM by the BM.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Submit Form: Click on Submit to proceed.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59E43-7D7E-496B-8ED7-D4E730854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84" y="1566138"/>
            <a:ext cx="2093210" cy="42765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5F0799-26AE-C8CB-C485-1E8D5A27F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878" y="1566138"/>
            <a:ext cx="2089094" cy="42580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F09DCE-97B1-53EB-9F14-F990B9C77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2469" y="1556879"/>
            <a:ext cx="2082357" cy="4276543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FE71EE8-F876-8C42-129D-95A13A471B16}"/>
              </a:ext>
            </a:extLst>
          </p:cNvPr>
          <p:cNvCxnSpPr>
            <a:cxnSpLocks/>
            <a:stCxn id="25" idx="2"/>
          </p:cNvCxnSpPr>
          <p:nvPr/>
        </p:nvCxnSpPr>
        <p:spPr>
          <a:xfrm rot="16200000" flipH="1">
            <a:off x="4606855" y="4542416"/>
            <a:ext cx="121296" cy="13747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A13304-2C5D-D589-53C2-6B416E947DFF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3957093" y="2985548"/>
            <a:ext cx="0" cy="364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518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BFC9D-A769-9BA1-BE9F-60EFC016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04B4E-9CFD-6B7F-28B0-49CE7862D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65" y="365027"/>
            <a:ext cx="8906834" cy="1325563"/>
          </a:xfrm>
        </p:spPr>
        <p:txBody>
          <a:bodyPr/>
          <a:lstStyle/>
          <a:p>
            <a:r>
              <a:rPr lang="en-US" dirty="0"/>
              <a:t>Interested and Not-Interested Leads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53D255-6966-C716-770B-4D984A97A777}"/>
              </a:ext>
            </a:extLst>
          </p:cNvPr>
          <p:cNvSpPr/>
          <p:nvPr/>
        </p:nvSpPr>
        <p:spPr>
          <a:xfrm>
            <a:off x="768994" y="1337665"/>
            <a:ext cx="4947967" cy="506313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br>
              <a:rPr lang="en-US" dirty="0"/>
            </a:br>
            <a:r>
              <a:rPr lang="en-US" sz="1200" dirty="0"/>
              <a:t>Scenario 1: Customer is Busy or Insufficient Information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If the customer is busy or the RM cannot gather enough relevant information to create a complete lead, they can click on  "Previous". This action will display the Interested/Not Interested section.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Selecting Lead Interest: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RM will be prompted to select an option from the dropdown: Interested or Not Interested.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Case 1: Not Interested Leads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If the customer is not interested at the moment, the RM can select Not Interested.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Even in this scenario, if some relevant information about the lead is available, it can be saved as a Pre-Lead.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 Pre-Lead indicates potential for future follow-up and conversion into a full lead.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/>
              <a:t>Case 2: Interested Leads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If the customer shows interest but requests follow-up at a later date, the RM should select Interested.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RM must then specify a Follow-Up Date for that lead.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lead will be saved under the Follow-Up Leads section for further action.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2828D-07A2-306C-000C-220EDB462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984" y="1425969"/>
            <a:ext cx="2153053" cy="43953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7886C2-9742-AB7C-DD92-6B1D7B0C5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784" y="1432249"/>
            <a:ext cx="1953072" cy="428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28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BED6E-DE66-245B-A092-4ECC58BEA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D227-C12E-57B0-079B-E21E4E789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65" y="365027"/>
            <a:ext cx="4432042" cy="1325563"/>
          </a:xfrm>
        </p:spPr>
        <p:txBody>
          <a:bodyPr/>
          <a:lstStyle/>
          <a:p>
            <a:r>
              <a:rPr lang="en-US" dirty="0"/>
              <a:t>On Submission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B755F4-D947-B883-A51E-CB9510EE5513}"/>
              </a:ext>
            </a:extLst>
          </p:cNvPr>
          <p:cNvSpPr/>
          <p:nvPr/>
        </p:nvSpPr>
        <p:spPr>
          <a:xfrm>
            <a:off x="959806" y="1395263"/>
            <a:ext cx="8118880" cy="14505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05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Submission</a:t>
            </a:r>
            <a:endParaRPr lang="en-IN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05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Lead Completion:</a:t>
            </a:r>
            <a:br>
              <a:rPr lang="en-IN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Once the lead is fully created, including successful generation of </a:t>
            </a:r>
            <a:r>
              <a:rPr lang="en-IN" sz="105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KYC</a:t>
            </a:r>
            <a:r>
              <a:rPr lang="en-IN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N" sz="105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CRIF</a:t>
            </a:r>
            <a:r>
              <a:rPr lang="en-IN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the borrower and co-borrower, the lead is categorized based on the CRIF score.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05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Lead Categorization:</a:t>
            </a:r>
            <a:br>
              <a:rPr lang="en-IN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lead is classified into </a:t>
            </a:r>
            <a:r>
              <a:rPr lang="en-IN" sz="105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Green</a:t>
            </a:r>
            <a:r>
              <a:rPr lang="en-IN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05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Amber</a:t>
            </a:r>
            <a:r>
              <a:rPr lang="en-IN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or </a:t>
            </a:r>
            <a:r>
              <a:rPr lang="en-IN" sz="105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</a:t>
            </a:r>
            <a:r>
              <a:rPr lang="en-IN" sz="105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categories according to the CRIF scores of both the borrower and co-borrower.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4487CF-4E33-08BE-FF0F-F884490BA029}"/>
              </a:ext>
            </a:extLst>
          </p:cNvPr>
          <p:cNvSpPr/>
          <p:nvPr/>
        </p:nvSpPr>
        <p:spPr>
          <a:xfrm>
            <a:off x="2733871" y="3110614"/>
            <a:ext cx="6344815" cy="9610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Green Lead: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Represents customers who are fully eligible based on their CRIF score.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CRIF Score: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≥ 700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9BDB6F-D4DC-E999-ACDB-266202C6DC29}"/>
              </a:ext>
            </a:extLst>
          </p:cNvPr>
          <p:cNvSpPr/>
          <p:nvPr/>
        </p:nvSpPr>
        <p:spPr>
          <a:xfrm>
            <a:off x="2733871" y="4132252"/>
            <a:ext cx="6344815" cy="9610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Amber Lead: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Represents customers with potential eligibility, but their CRIF score is slightly lower.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CRIF Score:</a:t>
            </a:r>
            <a:r>
              <a:rPr lang="en-IN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≥ 550 but &lt; 700</a:t>
            </a:r>
            <a:endParaRPr lang="en-IN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ACD206-0E30-C3F1-45DA-3B596B34E280}"/>
              </a:ext>
            </a:extLst>
          </p:cNvPr>
          <p:cNvSpPr/>
          <p:nvPr/>
        </p:nvSpPr>
        <p:spPr>
          <a:xfrm>
            <a:off x="2733872" y="5182389"/>
            <a:ext cx="6344814" cy="9610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 Lead: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Represents customers with a very low CRIF score but who may still be considered for potential cases.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CRIF Score: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 550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265E5-3969-D4BE-FDDD-DA83C83EA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741" y="5127416"/>
            <a:ext cx="1422545" cy="10709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D5424D-4487-65AA-4FFB-A8AC4AA22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41" y="3110614"/>
            <a:ext cx="1494145" cy="10216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AA1A5A3-08B5-2187-69AB-3C95841CE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521" y="4132252"/>
            <a:ext cx="1494145" cy="10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5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D7447-49F3-B71D-C7A1-2A0772523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9CD5-9A19-CE4C-3E3E-5483361F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3603"/>
            <a:ext cx="7483151" cy="1325563"/>
          </a:xfrm>
        </p:spPr>
        <p:txBody>
          <a:bodyPr/>
          <a:lstStyle/>
          <a:p>
            <a:r>
              <a:rPr lang="en-US" dirty="0"/>
              <a:t>Follow up and Pre-Lead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C181DD-B164-584C-7CE3-70489F72E479}"/>
              </a:ext>
            </a:extLst>
          </p:cNvPr>
          <p:cNvSpPr/>
          <p:nvPr/>
        </p:nvSpPr>
        <p:spPr>
          <a:xfrm>
            <a:off x="882932" y="1712199"/>
            <a:ext cx="5863101" cy="12239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Follow-Up Leads: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a customer is interested, and the RM specifies a follow-up date for that lead, it is moved to the </a:t>
            </a:r>
            <a:r>
              <a:rPr lang="en-IN" sz="1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Follow-Up Leads</a:t>
            </a: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section.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section, the RM can view all leads scheduled for follow-up on a specific date.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018871-7CA2-85D2-5EB1-C181B5638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618" y="1688926"/>
            <a:ext cx="1757362" cy="12239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475D9F-2BFA-3461-B92D-1B2862AAF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4628" y="1659166"/>
            <a:ext cx="1434647" cy="12006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77086A-6385-87E2-FCED-9143306D39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8997" y="2989195"/>
            <a:ext cx="1582534" cy="32529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AC0AAF-D32E-7506-ED8D-2CA3EC135C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7515" y="2989195"/>
            <a:ext cx="1581465" cy="3252986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81C2E75-0285-AF76-7A7C-13F3B60B3E39}"/>
              </a:ext>
            </a:extLst>
          </p:cNvPr>
          <p:cNvSpPr/>
          <p:nvPr/>
        </p:nvSpPr>
        <p:spPr>
          <a:xfrm>
            <a:off x="848720" y="3713583"/>
            <a:ext cx="5863101" cy="16608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Pre-Leads:</a:t>
            </a:r>
            <a:endParaRPr lang="en-IN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Pre-Leads include all leads that have the potential to become full leads.</a:t>
            </a:r>
          </a:p>
          <a:p>
            <a:pPr marL="342900" lvl="0" indent="-342900">
              <a:lnSpc>
                <a:spcPct val="107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may include: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rabicPeriod"/>
            </a:pPr>
            <a:r>
              <a:rPr lang="en-IN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Partially Filled Leads:</a:t>
            </a:r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Leads where some required information is incomplete.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Follow-Up Leads:</a:t>
            </a:r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Leads that may eventually be categorized as </a:t>
            </a:r>
            <a:r>
              <a:rPr lang="en-IN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Green</a:t>
            </a:r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Amber</a:t>
            </a:r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or </a:t>
            </a:r>
            <a:r>
              <a:rPr lang="en-IN" sz="1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</a:t>
            </a:r>
            <a:r>
              <a:rPr lang="en-IN" sz="1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based on further evaluation.</a:t>
            </a:r>
          </a:p>
        </p:txBody>
      </p:sp>
    </p:spTree>
    <p:extLst>
      <p:ext uri="{BB962C8B-B14F-4D97-AF65-F5344CB8AC3E}">
        <p14:creationId xmlns:p14="http://schemas.microsoft.com/office/powerpoint/2010/main" val="1099225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ol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A2387"/>
      </a:accent1>
      <a:accent2>
        <a:srgbClr val="E94057"/>
      </a:accent2>
      <a:accent3>
        <a:srgbClr val="F27120"/>
      </a:accent3>
      <a:accent4>
        <a:srgbClr val="FFC000"/>
      </a:accent4>
      <a:accent5>
        <a:srgbClr val="F9C7CE"/>
      </a:accent5>
      <a:accent6>
        <a:srgbClr val="F2CEF1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imeline from SmartArt_06_AE_MO - v5" id="{F1D9F28E-3572-41E0-A15B-747FE2A1B81E}" vid="{E63A1E93-5892-407B-B93E-8A36443B3E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A4DB83B-F2B1-420B-8400-4B877ED687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A21650-0A48-421D-B899-A4DF6701D5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6A527C-6602-4796-B40B-26E0B5D4CDC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product roadmap</Template>
  <TotalTime>768</TotalTime>
  <Words>779</Words>
  <Application>Microsoft Office PowerPoint</Application>
  <PresentationFormat>Widescreen</PresentationFormat>
  <Paragraphs>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Rockwell</vt:lpstr>
      <vt:lpstr>Symbol</vt:lpstr>
      <vt:lpstr>Tw Cen MT</vt:lpstr>
      <vt:lpstr>Office Theme</vt:lpstr>
      <vt:lpstr>Bizloan Sales Buddy App</vt:lpstr>
      <vt:lpstr>Check in Process</vt:lpstr>
      <vt:lpstr>BM Role</vt:lpstr>
      <vt:lpstr>Steps to Create Beat</vt:lpstr>
      <vt:lpstr>Steps to Assign Beat</vt:lpstr>
      <vt:lpstr>RM Role</vt:lpstr>
      <vt:lpstr>Steps to Create New Lead</vt:lpstr>
      <vt:lpstr>Interested and Not-Interested Leads</vt:lpstr>
      <vt:lpstr>On Submission</vt:lpstr>
      <vt:lpstr>Follow up and Pre-Lead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Jagrit Madaan</dc:creator>
  <cp:lastModifiedBy>user3</cp:lastModifiedBy>
  <cp:revision>43</cp:revision>
  <dcterms:created xsi:type="dcterms:W3CDTF">2025-01-07T12:58:11Z</dcterms:created>
  <dcterms:modified xsi:type="dcterms:W3CDTF">2025-03-01T09:45:22Z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