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6" r:id="rId7"/>
    <p:sldId id="267" r:id="rId8"/>
    <p:sldId id="268" r:id="rId9"/>
    <p:sldId id="270" r:id="rId10"/>
    <p:sldId id="271" r:id="rId11"/>
    <p:sldId id="269" r:id="rId12"/>
    <p:sldId id="27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41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outlineViewPr>
    <p:cViewPr>
      <p:scale>
        <a:sx n="50" d="100"/>
        <a:sy n="50" d="100"/>
      </p:scale>
      <p:origin x="0" y="-6797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59283-90A1-8353-6421-1A13B3AAB2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AD85B7-86C4-B87C-403E-5EF9993819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DEF91-CC56-5830-DD4A-8F3232D58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C038F-5A40-438D-8775-33DBAC63D664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E91175-4CB4-DB95-F245-0ACE75C73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FB236-E8FF-BED8-09D5-36BA907E2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B3726-0BF0-40E8-B367-2AA676DB43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246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8DCF0-FC62-419A-8D9D-F79127285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53D45-5A90-0F6B-8973-B3B73EFF19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241471-9D63-C57F-563A-8684F3FD5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C038F-5A40-438D-8775-33DBAC63D664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BECCC5-7C56-A8DE-E936-233DC7356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A8954-EA85-CF22-4B43-016CD75D1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B3726-0BF0-40E8-B367-2AA676DB43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523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7A3D3-56BA-8605-B1AC-77571D8D6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7F010D-2417-0487-1802-820BBB1E40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C96B8A-9CC0-795B-1ADE-D8724DDF6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C038F-5A40-438D-8775-33DBAC63D664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DD5A6F-873E-4ED5-6CE4-CE82E9FB4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3B928-7D66-5FAE-DD91-DC518CB02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B3726-0BF0-40E8-B367-2AA676DB43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313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E52EE-3835-2984-1F19-4431E2477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00B3F-1BEC-6C3F-D25D-E060E9CE19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9D6130-D7B7-C2A4-D8F9-7A3FE8D712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3FF296-CEB4-28D7-A806-47249B26D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C038F-5A40-438D-8775-33DBAC63D664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26F272-00E5-37C5-0B43-87BC0450B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408503-9BE5-A60A-BDFB-4E827855E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B3726-0BF0-40E8-B367-2AA676DB43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851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77D80-47E4-640C-3FFA-EFFDD8B89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5E9B92-EC3F-0C48-037E-E13FBC863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93FAA7-FBA1-3C1B-B440-C9A3273840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8A20A7-1B01-37BF-00E2-1F6F766FBD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4B9874-F580-F6B7-60E3-2E96B5B2C4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8F233D-0682-8BEC-CAEE-F97CB914A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C038F-5A40-438D-8775-33DBAC63D664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334016-D7FA-AC5C-D9F2-52C307696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7C532B-ED4D-95F7-89BA-723561259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B3726-0BF0-40E8-B367-2AA676DB43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349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35D0E-2226-1618-2E6B-BC45D50C1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857050-036D-9014-431F-426310CCD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C038F-5A40-438D-8775-33DBAC63D664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24B0D0-208E-826A-23DF-B3EFA5653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6A5152-48D4-2938-FE47-1C0F397A0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B3726-0BF0-40E8-B367-2AA676DB43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35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C932F2-1FA9-7F3F-62D8-1F9FA3760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C038F-5A40-438D-8775-33DBAC63D664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B1E358-AC58-58DF-59C7-30BE4F02D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5C373-FE91-C5A9-75EC-0F4914D16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B3726-0BF0-40E8-B367-2AA676DB43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360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D10C0-3B31-61C3-EAE5-074396912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FFA06-C2B7-ADF8-FB66-D0624E629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3C290C-EAB1-0E9C-0977-F929C78F43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F875E0-A91B-1FD6-199F-DE6D933B4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C038F-5A40-438D-8775-33DBAC63D664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FB3E-E828-2689-F617-E0FDEF662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25FD8F-914C-4F5E-8495-CA749316A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B3726-0BF0-40E8-B367-2AA676DB43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361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E6862-2056-7AA8-5F24-3CBE29995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419A37-5DE9-4CA8-975A-286538A54E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36EA78-D2A2-AB97-3C97-D9A740FD85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C3BCF4-BD17-E44A-973D-EA0EA9944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C038F-5A40-438D-8775-33DBAC63D664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5295B2-33E2-EAD7-B454-FC8611499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64F7D6-5CBD-9AA5-E6F0-D38B461B5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B3726-0BF0-40E8-B367-2AA676DB43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738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6346A-8549-D7F0-1F68-87084A328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8A5EC2-D784-4A6B-FF78-349550BFB1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3C060B-4657-A878-1FAC-7B6C20553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C038F-5A40-438D-8775-33DBAC63D664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C63777-5AC5-4B0B-2A1C-F55D87244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59FF5A-CEFC-F209-727B-E372FD59A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B3726-0BF0-40E8-B367-2AA676DB43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520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CF55B7-86B6-52A0-87A1-C599425546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2A7C2C-E898-C9A6-D83E-2A806EF4A3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3C351D-645D-16F5-2E15-25BF8D1A9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C038F-5A40-438D-8775-33DBAC63D664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0E3B71-FE24-0A79-3276-21A358781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3768B1-4DE0-4181-ADD1-F39DD1BBE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B3726-0BF0-40E8-B367-2AA676DB43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461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731FA5-CA5E-CE02-98ED-DBCF16151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060145-FFB9-E5F2-E5C8-8385E4E6D4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DC4C7C-1795-4D23-F474-F6B462FD25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BC038F-5A40-438D-8775-33DBAC63D664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83A398-DBDA-6D95-05CC-2319842344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77B19-B107-7284-48B1-7F5A7A5E77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7B3726-0BF0-40E8-B367-2AA676DB43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13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g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FC52798-863A-7989-9ECC-08F33F4CE14A}"/>
              </a:ext>
            </a:extLst>
          </p:cNvPr>
          <p:cNvSpPr txBox="1"/>
          <p:nvPr/>
        </p:nvSpPr>
        <p:spPr>
          <a:xfrm>
            <a:off x="1032387" y="3232920"/>
            <a:ext cx="9645445" cy="625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</a:pPr>
            <a:r>
              <a:rPr lang="en-US" sz="32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Loan 360</a:t>
            </a:r>
          </a:p>
        </p:txBody>
      </p:sp>
    </p:spTree>
    <p:extLst>
      <p:ext uri="{BB962C8B-B14F-4D97-AF65-F5344CB8AC3E}">
        <p14:creationId xmlns:p14="http://schemas.microsoft.com/office/powerpoint/2010/main" val="2023320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2463E-7C0B-790A-C60B-54459E7AF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428F1-454B-7016-755F-D43982E3D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880" y="186813"/>
            <a:ext cx="11206480" cy="727587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Loan360 - Standard Operating Procedure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FF7C63-DAF9-D5BB-C569-E32865939C1A}"/>
              </a:ext>
            </a:extLst>
          </p:cNvPr>
          <p:cNvSpPr txBox="1"/>
          <p:nvPr/>
        </p:nvSpPr>
        <p:spPr>
          <a:xfrm>
            <a:off x="436880" y="1073929"/>
            <a:ext cx="11206480" cy="38290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Table of Contents : -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Login Process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Overview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Customer Search &amp; Onboarding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14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KYC Search</a:t>
            </a:r>
            <a:endParaRPr lang="en-US" sz="1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14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Profile Document Verification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Profile Address  &amp; Profile Financial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Application Creation Process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14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Fill Your Collateral Details </a:t>
            </a:r>
            <a:endParaRPr lang="en-US" sz="1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Fill Your Application -Scheme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581417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F4558-2315-A3C8-E158-0B3052B1C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88890-1533-32B3-A784-8584D0C96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246" y="186813"/>
            <a:ext cx="7152315" cy="727587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Procedure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A09EF1-68F4-6EF0-A06C-F2BA94E58F96}"/>
              </a:ext>
            </a:extLst>
          </p:cNvPr>
          <p:cNvSpPr txBox="1"/>
          <p:nvPr/>
        </p:nvSpPr>
        <p:spPr>
          <a:xfrm>
            <a:off x="294966" y="1404620"/>
            <a:ext cx="7152314" cy="19741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Calibri Light (Headings)"/>
                <a:ea typeface="Calibri" panose="020F0502020204030204" pitchFamily="34" charset="0"/>
                <a:cs typeface="Times New Roman" panose="02020603050405020304" pitchFamily="18" charset="0"/>
              </a:rPr>
              <a:t> Login Credentials</a:t>
            </a:r>
            <a:endParaRPr lang="en-US" sz="1800" kern="100" dirty="0">
              <a:effectLst/>
              <a:latin typeface="Calibri Light (Headings)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 Light (Headings)"/>
                <a:ea typeface="Calibri" panose="020F0502020204030204" pitchFamily="34" charset="0"/>
                <a:cs typeface="Times New Roman" panose="02020603050405020304" pitchFamily="18" charset="0"/>
              </a:rPr>
              <a:t>Company Code</a:t>
            </a:r>
            <a:r>
              <a:rPr lang="en-US" sz="1800" b="1" kern="100" dirty="0">
                <a:effectLst/>
                <a:latin typeface="Calibri Light (Headings)"/>
                <a:ea typeface="Calibri" panose="020F0502020204030204" pitchFamily="34" charset="0"/>
                <a:cs typeface="Times New Roman" panose="02020603050405020304" pitchFamily="18" charset="0"/>
              </a:rPr>
              <a:t>: Bizloan</a:t>
            </a:r>
            <a:endParaRPr lang="en-US" sz="1800" kern="100" dirty="0">
              <a:effectLst/>
              <a:latin typeface="Calibri Light (Headings)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 Light (Headings)"/>
                <a:ea typeface="Calibri" panose="020F0502020204030204" pitchFamily="34" charset="0"/>
                <a:cs typeface="Times New Roman" panose="02020603050405020304" pitchFamily="18" charset="0"/>
              </a:rPr>
              <a:t>Username</a:t>
            </a:r>
            <a:r>
              <a:rPr lang="en-US" sz="1800" b="1" kern="100" dirty="0">
                <a:effectLst/>
                <a:latin typeface="Calibri Light (Headings)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en-US" sz="1800" kern="100" dirty="0">
                <a:effectLst/>
                <a:latin typeface="Calibri Light (Headings)"/>
                <a:ea typeface="Calibri" panose="020F0502020204030204" pitchFamily="34" charset="0"/>
                <a:cs typeface="Times New Roman" panose="02020603050405020304" pitchFamily="18" charset="0"/>
              </a:rPr>
              <a:t> Emp code in small like </a:t>
            </a:r>
            <a:r>
              <a:rPr lang="en-US" sz="1800" b="1" kern="100" dirty="0">
                <a:effectLst/>
                <a:latin typeface="Calibri Light (Headings)"/>
                <a:ea typeface="Calibri" panose="020F0502020204030204" pitchFamily="34" charset="0"/>
                <a:cs typeface="Times New Roman" panose="02020603050405020304" pitchFamily="18" charset="0"/>
              </a:rPr>
              <a:t>e.g. </a:t>
            </a:r>
            <a:r>
              <a:rPr lang="en-US" b="1" kern="100" dirty="0">
                <a:latin typeface="Calibri Light (Headings)"/>
                <a:ea typeface="Calibri" panose="020F0502020204030204" pitchFamily="34" charset="0"/>
                <a:cs typeface="Times New Roman" panose="02020603050405020304" pitchFamily="18" charset="0"/>
              </a:rPr>
              <a:t>: -</a:t>
            </a:r>
            <a:r>
              <a:rPr lang="en-US" sz="1800" b="1" kern="100" dirty="0">
                <a:effectLst/>
                <a:latin typeface="Calibri Light (Headings)"/>
                <a:ea typeface="Calibri" panose="020F0502020204030204" pitchFamily="34" charset="0"/>
                <a:cs typeface="Times New Roman" panose="02020603050405020304" pitchFamily="18" charset="0"/>
              </a:rPr>
              <a:t>bl000423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 Light (Headings)"/>
                <a:ea typeface="Calibri" panose="020F0502020204030204" pitchFamily="34" charset="0"/>
                <a:cs typeface="Times New Roman" panose="02020603050405020304" pitchFamily="18" charset="0"/>
              </a:rPr>
              <a:t>Password</a:t>
            </a:r>
            <a:r>
              <a:rPr lang="en-US" sz="1800" b="1" kern="100" dirty="0">
                <a:effectLst/>
                <a:latin typeface="Calibri Light (Headings)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en-US" b="1" kern="100" dirty="0">
                <a:latin typeface="Calibri Light (Headings)"/>
                <a:ea typeface="Calibri" panose="020F0502020204030204" pitchFamily="34" charset="0"/>
                <a:cs typeface="Times New Roman" panose="02020603050405020304" pitchFamily="18" charset="0"/>
              </a:rPr>
              <a:t> Send to you when created</a:t>
            </a:r>
            <a:b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F6F813-0E3B-440E-4FC0-F0B43FE53B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34360" y="1200240"/>
            <a:ext cx="2770240" cy="526256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D4FF4356-664C-7C60-09B0-860FF112BA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4360" y="1200240"/>
            <a:ext cx="2770240" cy="526256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0EEA2FC-2F6C-DC8C-5440-A8B40191876D}"/>
              </a:ext>
            </a:extLst>
          </p:cNvPr>
          <p:cNvSpPr/>
          <p:nvPr/>
        </p:nvSpPr>
        <p:spPr>
          <a:xfrm>
            <a:off x="8219440" y="1022555"/>
            <a:ext cx="3769360" cy="5648632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361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CD1DD-9A03-A6A1-4205-8C09CBD6B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284" y="294006"/>
            <a:ext cx="7462684" cy="578772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Overview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07B044-F283-CA9A-E12E-4E4BEA8563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284" y="1406013"/>
            <a:ext cx="7462684" cy="4943987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b="1" kern="100" dirty="0">
                <a:effectLst/>
                <a:latin typeface="Calibri Light (Headings)"/>
                <a:ea typeface="Calibri" panose="020F0502020204030204" pitchFamily="34" charset="0"/>
                <a:cs typeface="Times New Roman" panose="02020603050405020304" pitchFamily="18" charset="0"/>
              </a:rPr>
              <a:t>Access the Dashboard to monitor and manage all stages of the loan application process.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b="1" kern="100" dirty="0">
                <a:effectLst/>
                <a:latin typeface="Calibri Light (Headings)"/>
                <a:ea typeface="Calibri" panose="020F0502020204030204" pitchFamily="34" charset="0"/>
                <a:cs typeface="Times New Roman" panose="02020603050405020304" pitchFamily="18" charset="0"/>
              </a:rPr>
              <a:t>Key Sections: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kern="100" dirty="0">
                <a:effectLst/>
                <a:latin typeface="Calibri Light (Headings)"/>
                <a:ea typeface="Calibri" panose="020F0502020204030204" pitchFamily="34" charset="0"/>
                <a:cs typeface="Times New Roman" panose="02020603050405020304" pitchFamily="18" charset="0"/>
              </a:rPr>
              <a:t>Pre-Approval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kern="100" dirty="0">
                <a:effectLst/>
                <a:latin typeface="Calibri Light (Headings)"/>
                <a:ea typeface="Calibri" panose="020F0502020204030204" pitchFamily="34" charset="0"/>
                <a:cs typeface="Times New Roman" panose="02020603050405020304" pitchFamily="18" charset="0"/>
              </a:rPr>
              <a:t>Stage-wise Application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kern="100" dirty="0">
                <a:effectLst/>
                <a:latin typeface="Calibri Light (Headings)"/>
                <a:ea typeface="Calibri" panose="020F0502020204030204" pitchFamily="34" charset="0"/>
                <a:cs typeface="Times New Roman" panose="02020603050405020304" pitchFamily="18" charset="0"/>
              </a:rPr>
              <a:t>FI Agency &amp; Executive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kern="100" dirty="0">
                <a:effectLst/>
                <a:latin typeface="Calibri Light (Headings)"/>
                <a:ea typeface="Calibri" panose="020F0502020204030204" pitchFamily="34" charset="0"/>
                <a:cs typeface="Times New Roman" panose="02020603050405020304" pitchFamily="18" charset="0"/>
              </a:rPr>
              <a:t>PD Details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kern="100" dirty="0">
                <a:effectLst/>
                <a:latin typeface="Calibri Light (Headings)"/>
                <a:ea typeface="Calibri" panose="020F0502020204030204" pitchFamily="34" charset="0"/>
                <a:cs typeface="Times New Roman" panose="02020603050405020304" pitchFamily="18" charset="0"/>
              </a:rPr>
              <a:t>Send Back Loans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kern="100" dirty="0">
                <a:effectLst/>
                <a:latin typeface="Calibri Light (Headings)"/>
                <a:ea typeface="Calibri" panose="020F0502020204030204" pitchFamily="34" charset="0"/>
                <a:cs typeface="Times New Roman" panose="02020603050405020304" pitchFamily="18" charset="0"/>
              </a:rPr>
              <a:t>New Application Initiation</a:t>
            </a:r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1D20AA87-D1B4-DC72-974C-A529193958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86926" y="1406013"/>
            <a:ext cx="2654708" cy="490826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E959D0B-F8E1-CB47-3402-89B6805B304F}"/>
              </a:ext>
            </a:extLst>
          </p:cNvPr>
          <p:cNvSpPr/>
          <p:nvPr/>
        </p:nvSpPr>
        <p:spPr>
          <a:xfrm>
            <a:off x="8463280" y="1229372"/>
            <a:ext cx="3302000" cy="512062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908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8B966-5963-D60C-730A-0DF1840EC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938" y="355599"/>
            <a:ext cx="5834462" cy="558801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Calibri Light (Headings)"/>
                <a:ea typeface="Calibri" panose="020F0502020204030204" pitchFamily="34" charset="0"/>
                <a:cs typeface="Times New Roman" panose="02020603050405020304" pitchFamily="18" charset="0"/>
              </a:rPr>
              <a:t>Customer Search &amp; Onboarding</a:t>
            </a:r>
            <a:endParaRPr lang="en-US" sz="1800" kern="100" dirty="0">
              <a:effectLst/>
              <a:latin typeface="Calibri Light (Headings)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002E3-2EB8-264D-8FA8-DBAFA6F7D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938" y="1310641"/>
            <a:ext cx="5834462" cy="2225039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b="1" kern="100" dirty="0">
                <a:effectLst/>
                <a:latin typeface="Calibri Light (Headings)"/>
                <a:ea typeface="Calibri" panose="020F0502020204030204" pitchFamily="34" charset="0"/>
                <a:cs typeface="Times New Roman" panose="02020603050405020304" pitchFamily="18" charset="0"/>
              </a:rPr>
              <a:t>Navigate to the Customers section.</a:t>
            </a:r>
            <a:endParaRPr lang="en-US" sz="1600" kern="100" dirty="0">
              <a:effectLst/>
              <a:latin typeface="Calibri Light (Headings)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100" dirty="0">
                <a:latin typeface="Calibri Light (Headings)"/>
                <a:ea typeface="Calibri" panose="020F0502020204030204" pitchFamily="34" charset="0"/>
                <a:cs typeface="Times New Roman" panose="02020603050405020304" pitchFamily="18" charset="0"/>
              </a:rPr>
              <a:t>Search Customer If already in database.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100" dirty="0">
                <a:effectLst/>
                <a:latin typeface="Calibri Light (Headings)"/>
                <a:ea typeface="Calibri" panose="020F0502020204030204" pitchFamily="34" charset="0"/>
                <a:cs typeface="Times New Roman" panose="02020603050405020304" pitchFamily="18" charset="0"/>
              </a:rPr>
              <a:t>If No Customers Found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100" dirty="0">
                <a:latin typeface="Calibri Light (Headings)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1600" kern="100" dirty="0">
                <a:effectLst/>
                <a:latin typeface="Calibri Light (Headings)"/>
                <a:ea typeface="Calibri" panose="020F0502020204030204" pitchFamily="34" charset="0"/>
                <a:cs typeface="Times New Roman" panose="02020603050405020304" pitchFamily="18" charset="0"/>
              </a:rPr>
              <a:t>roceed to Create a New Customer using the "New Customer" function.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endParaRPr lang="en-US" sz="1600" kern="100" dirty="0">
              <a:effectLst/>
              <a:latin typeface="Calibri Light (Headings)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B995DC6-84E0-786D-6B5D-42FCB11654A6}"/>
              </a:ext>
            </a:extLst>
          </p:cNvPr>
          <p:cNvGrpSpPr/>
          <p:nvPr/>
        </p:nvGrpSpPr>
        <p:grpSpPr>
          <a:xfrm>
            <a:off x="6350000" y="1310642"/>
            <a:ext cx="5730240" cy="4873848"/>
            <a:chOff x="6776720" y="1138390"/>
            <a:chExt cx="5298422" cy="4073669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79061E1-F8E2-598A-BD13-72338A597BA5}"/>
                </a:ext>
              </a:extLst>
            </p:cNvPr>
            <p:cNvGrpSpPr/>
            <p:nvPr/>
          </p:nvGrpSpPr>
          <p:grpSpPr>
            <a:xfrm>
              <a:off x="6883174" y="1148813"/>
              <a:ext cx="3453967" cy="3830670"/>
              <a:chOff x="7943331" y="1211468"/>
              <a:chExt cx="2691279" cy="5034116"/>
            </a:xfrm>
          </p:grpSpPr>
          <p:pic>
            <p:nvPicPr>
              <p:cNvPr id="4" name="Content Placeholder 4">
                <a:extLst>
                  <a:ext uri="{FF2B5EF4-FFF2-40B4-BE49-F238E27FC236}">
                    <a16:creationId xmlns:a16="http://schemas.microsoft.com/office/drawing/2014/main" id="{8B8FF14B-08B7-6A42-ABF9-6C0C34413B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7943331" y="1211468"/>
                <a:ext cx="1323028" cy="5034116"/>
              </a:xfrm>
              <a:prstGeom prst="rect">
                <a:avLst/>
              </a:prstGeom>
            </p:spPr>
          </p:pic>
          <p:pic>
            <p:nvPicPr>
              <p:cNvPr id="5" name="Content Placeholder 4">
                <a:extLst>
                  <a:ext uri="{FF2B5EF4-FFF2-40B4-BE49-F238E27FC236}">
                    <a16:creationId xmlns:a16="http://schemas.microsoft.com/office/drawing/2014/main" id="{EEE19BE6-92B2-E0A5-8692-22FE521AC5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9311582" y="1225168"/>
                <a:ext cx="1323028" cy="5006718"/>
              </a:xfrm>
              <a:prstGeom prst="rect">
                <a:avLst/>
              </a:prstGeom>
            </p:spPr>
          </p:pic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F0107E0-3C06-9E67-78A3-E912E69C4029}"/>
                </a:ext>
              </a:extLst>
            </p:cNvPr>
            <p:cNvSpPr/>
            <p:nvPr/>
          </p:nvSpPr>
          <p:spPr>
            <a:xfrm>
              <a:off x="6776720" y="1138390"/>
              <a:ext cx="5298422" cy="4073669"/>
            </a:xfrm>
            <a:prstGeom prst="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Content Placeholder 4">
              <a:extLst>
                <a:ext uri="{FF2B5EF4-FFF2-40B4-BE49-F238E27FC236}">
                  <a16:creationId xmlns:a16="http://schemas.microsoft.com/office/drawing/2014/main" id="{56B90538-A828-E120-0B4C-A27E0B32A6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391045" y="1138390"/>
              <a:ext cx="1630193" cy="383067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77B5DF83-0EF3-4C9A-2A81-1888397C9B5D}"/>
              </a:ext>
            </a:extLst>
          </p:cNvPr>
          <p:cNvSpPr txBox="1">
            <a:spLocks/>
          </p:cNvSpPr>
          <p:nvPr/>
        </p:nvSpPr>
        <p:spPr>
          <a:xfrm>
            <a:off x="413938" y="3614670"/>
            <a:ext cx="5834462" cy="51977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1800" b="1" kern="1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Customer Data Collection Methods</a:t>
            </a:r>
            <a:endParaRPr lang="en-US" sz="18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39FE2BE-BBE2-78B7-3BB5-B1FB5329CF1B}"/>
              </a:ext>
            </a:extLst>
          </p:cNvPr>
          <p:cNvSpPr txBox="1">
            <a:spLocks/>
          </p:cNvSpPr>
          <p:nvPr/>
        </p:nvSpPr>
        <p:spPr>
          <a:xfrm>
            <a:off x="413939" y="4213438"/>
            <a:ext cx="5834462" cy="19635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b="1" kern="100" dirty="0">
                <a:latin typeface="Calibri Light (Headings)"/>
                <a:ea typeface="Calibri" panose="020F0502020204030204" pitchFamily="34" charset="0"/>
                <a:cs typeface="Times New Roman" panose="02020603050405020304" pitchFamily="18" charset="0"/>
              </a:rPr>
              <a:t>Customer data can be added through: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kern="100" dirty="0">
                <a:latin typeface="Calibri Light (Headings)"/>
                <a:ea typeface="Calibri" panose="020F0502020204030204" pitchFamily="34" charset="0"/>
                <a:cs typeface="Times New Roman" panose="02020603050405020304" pitchFamily="18" charset="0"/>
              </a:rPr>
              <a:t>Direct Feeding   (Working Only)</a:t>
            </a:r>
          </a:p>
          <a:p>
            <a:pPr marL="0" indent="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None/>
            </a:pPr>
            <a:endParaRPr lang="en-US" sz="1600" kern="100" dirty="0">
              <a:latin typeface="Calibri Light (Headings)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0721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25C90-04DE-DB9C-3105-4AB47ECE7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1BFAD-2EC6-E064-B04D-4DBBB93C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202" y="314326"/>
            <a:ext cx="6880505" cy="51977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Customer Onboarding 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06AC7-2CA5-AD31-CEC6-3CC131B9C1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417" y="1261806"/>
            <a:ext cx="6870290" cy="550278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b="1" kern="100" dirty="0">
                <a:effectLst/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Feel The </a:t>
            </a:r>
            <a:r>
              <a:rPr lang="en-US" sz="1600" b="1" kern="100" dirty="0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Customer Data </a:t>
            </a:r>
            <a:r>
              <a:rPr lang="en-US" sz="1600" b="1" kern="100" dirty="0">
                <a:effectLst/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US" sz="1600" b="1" kern="100" dirty="0"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0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kern="100" dirty="0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Customer Details</a:t>
            </a:r>
          </a:p>
          <a:p>
            <a:pPr marL="742950" lvl="1" indent="-285750">
              <a:lnSpc>
                <a:spcPct val="10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kern="100" dirty="0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Relation Details </a:t>
            </a:r>
          </a:p>
          <a:p>
            <a:pPr marL="742950" lvl="1" indent="-285750">
              <a:lnSpc>
                <a:spcPct val="10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kern="100" dirty="0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Profile Contact</a:t>
            </a:r>
          </a:p>
          <a:p>
            <a:pPr marL="742950" lvl="1" indent="-285750">
              <a:lnSpc>
                <a:spcPct val="10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kern="100" dirty="0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Profile Details </a:t>
            </a:r>
          </a:p>
          <a:p>
            <a:pPr marL="742950" lvl="1" indent="-285750">
              <a:lnSpc>
                <a:spcPct val="10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Gender  </a:t>
            </a:r>
          </a:p>
          <a:p>
            <a:pPr marL="1200150" lvl="2" indent="-285750">
              <a:lnSpc>
                <a:spcPct val="10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kern="1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Name </a:t>
            </a:r>
          </a:p>
          <a:p>
            <a:pPr marL="1200150" lvl="2" indent="-285750">
              <a:lnSpc>
                <a:spcPct val="10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Mid Name</a:t>
            </a:r>
          </a:p>
          <a:p>
            <a:pPr marL="1200150" lvl="2" indent="-285750">
              <a:lnSpc>
                <a:spcPct val="10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kern="1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Last Name</a:t>
            </a:r>
            <a:r>
              <a:rPr lang="en-US" sz="16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  (Which is may required according t</a:t>
            </a:r>
            <a:r>
              <a:rPr lang="en-US" sz="1600" kern="1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o Corporate.)</a:t>
            </a:r>
            <a:endParaRPr lang="en-US" sz="16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13559E-6903-C9AD-DBD1-95CE8A24A2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3778" y="3566794"/>
            <a:ext cx="1429296" cy="292608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348A7E4-64C5-582C-C904-9B84823526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0223" y="3564860"/>
            <a:ext cx="1426704" cy="292608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3C715E0-1D3C-4178-B07A-EC1F5DD6F3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7750" y="522584"/>
            <a:ext cx="1439056" cy="292608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38E9D32-1E4C-FB50-2D69-6D01246F84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9576" y="522584"/>
            <a:ext cx="1427351" cy="292608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2D7D6AF1-AB57-5450-C6AB-F479037491EC}"/>
              </a:ext>
            </a:extLst>
          </p:cNvPr>
          <p:cNvSpPr/>
          <p:nvPr/>
        </p:nvSpPr>
        <p:spPr>
          <a:xfrm>
            <a:off x="7816645" y="365126"/>
            <a:ext cx="4139381" cy="639946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070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ED550-AE9C-D63E-CC75-2C05A5849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784E6-0656-FBAA-9B9A-582026DC5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084" y="365126"/>
            <a:ext cx="5926436" cy="51977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Profile Document Verification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CFE862-642D-D521-B940-D8D5ECF39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084" y="1236898"/>
            <a:ext cx="5926436" cy="480546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Customer Profile Document Verification</a:t>
            </a:r>
            <a:endParaRPr lang="en-US" sz="16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Aadhar Card &amp; Pan Card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Click on next and then Processing and wait.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914400" algn="l"/>
              </a:tabLst>
            </a:pPr>
            <a:r>
              <a:rPr lang="en-US" sz="16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 view documents .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en-US" sz="1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en-US" sz="1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8D3A5D4-E547-10A2-0BC3-AB03465A99AF}"/>
              </a:ext>
            </a:extLst>
          </p:cNvPr>
          <p:cNvGrpSpPr/>
          <p:nvPr/>
        </p:nvGrpSpPr>
        <p:grpSpPr>
          <a:xfrm>
            <a:off x="7874000" y="1409898"/>
            <a:ext cx="3916878" cy="4185921"/>
            <a:chOff x="8439086" y="1732499"/>
            <a:chExt cx="3404084" cy="345943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595AEEE-285C-32ED-7E75-64E3EFA70A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39086" y="1732499"/>
              <a:ext cx="1668689" cy="3459439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AE8FA7E-066D-9F55-7CA2-FFB1FE9F67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183550" y="1732500"/>
              <a:ext cx="1659620" cy="3459438"/>
            </a:xfrm>
            <a:prstGeom prst="rect">
              <a:avLst/>
            </a:prstGeom>
          </p:spPr>
        </p:pic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26486A6E-9D03-BB41-B39E-BCF4ED8C9493}"/>
              </a:ext>
            </a:extLst>
          </p:cNvPr>
          <p:cNvSpPr/>
          <p:nvPr/>
        </p:nvSpPr>
        <p:spPr>
          <a:xfrm>
            <a:off x="7607883" y="1236896"/>
            <a:ext cx="4546735" cy="480546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227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0ABC8-F038-F980-9925-22557AD0F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E002ACC6-A796-9286-698B-69EAAFC5CF4E}"/>
              </a:ext>
            </a:extLst>
          </p:cNvPr>
          <p:cNvSpPr txBox="1">
            <a:spLocks/>
          </p:cNvSpPr>
          <p:nvPr/>
        </p:nvSpPr>
        <p:spPr>
          <a:xfrm>
            <a:off x="492664" y="200243"/>
            <a:ext cx="5515897" cy="6551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Profile Address  &amp; Profile Financial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C55F8-E5D1-95CD-1A09-12D72C1193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664" y="993058"/>
            <a:ext cx="5428459" cy="56647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>
              <a:lnSpc>
                <a:spcPct val="115000"/>
              </a:lnSpc>
              <a:spcBef>
                <a:spcPts val="600"/>
              </a:spcBef>
              <a:buSzPts val="1000"/>
              <a:buNone/>
              <a:tabLst>
                <a:tab pos="457200" algn="l"/>
              </a:tabLst>
            </a:pPr>
            <a:r>
              <a:rPr lang="en-US" sz="1400" b="1" kern="100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Add Profile Address: -</a:t>
            </a:r>
          </a:p>
          <a:p>
            <a:pPr marL="0" marR="0">
              <a:lnSpc>
                <a:spcPct val="115000"/>
              </a:lnSpc>
              <a:spcBef>
                <a:spcPts val="600"/>
              </a:spcBef>
              <a:buNone/>
            </a:pPr>
            <a:r>
              <a:rPr lang="en-US" sz="1400" kern="100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1400" b="1" kern="100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Customer Profile Information</a:t>
            </a:r>
            <a:endParaRPr lang="en-US" sz="1400" kern="100" dirty="0">
              <a:solidFill>
                <a:schemeClr val="tx1"/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b="1" kern="100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Name:</a:t>
            </a:r>
            <a:r>
              <a:rPr lang="en-US" sz="1400" kern="100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 Customer Name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b="1" kern="100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Relation:</a:t>
            </a:r>
            <a:r>
              <a:rPr lang="en-US" sz="1400" kern="100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 Customer Relation Name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b="1" kern="100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Aadhaar Number:</a:t>
            </a:r>
            <a:r>
              <a:rPr lang="en-US" sz="1400" kern="100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Customer Aadhar Name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b="1" kern="100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PAN Number:</a:t>
            </a:r>
            <a:r>
              <a:rPr lang="en-US" sz="1400" kern="100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 Customer Pan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b="1" kern="100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Mobile Number:</a:t>
            </a:r>
            <a:r>
              <a:rPr lang="en-US" sz="1400" kern="100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b="1" kern="100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Date of Birth:</a:t>
            </a:r>
            <a:r>
              <a:rPr lang="en-US" sz="1400" kern="100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b="1" kern="100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Age:</a:t>
            </a:r>
            <a:r>
              <a:rPr lang="en-US" sz="1400" kern="100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 27</a:t>
            </a:r>
          </a:p>
          <a:p>
            <a:pPr marL="0" marR="0" lvl="0" indent="0">
              <a:lnSpc>
                <a:spcPct val="115000"/>
              </a:lnSpc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en-US" sz="1400" kern="100" dirty="0">
              <a:solidFill>
                <a:schemeClr val="tx1"/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600"/>
              </a:spcBef>
              <a:buNone/>
            </a:pPr>
            <a:r>
              <a:rPr lang="en-US" sz="1400" b="1" kern="100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Address Details</a:t>
            </a:r>
          </a:p>
          <a:p>
            <a:pPr marL="0" marR="0">
              <a:lnSpc>
                <a:spcPct val="115000"/>
              </a:lnSpc>
              <a:spcBef>
                <a:spcPts val="600"/>
              </a:spcBef>
              <a:buNone/>
            </a:pPr>
            <a:endParaRPr lang="en-US" sz="1400" kern="100" dirty="0">
              <a:solidFill>
                <a:schemeClr val="tx1"/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b="1" kern="100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Address Type:</a:t>
            </a:r>
            <a:r>
              <a:rPr lang="en-US" sz="1400" kern="100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 Present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b="1" kern="100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Full Address:</a:t>
            </a:r>
            <a:r>
              <a:rPr lang="en-US" sz="1400" kern="100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Ghaziabad, Ghaziabad, Uttar Pradesh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400" b="1" kern="100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Navigation Options</a:t>
            </a:r>
            <a:endParaRPr lang="en-US" sz="1400" kern="100" dirty="0">
              <a:solidFill>
                <a:schemeClr val="tx1"/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400" kern="100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Corporate, Relation, Contact, Profile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400" b="1" kern="100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Buttons for Actions</a:t>
            </a:r>
            <a:endParaRPr lang="en-US" sz="1400" kern="100" dirty="0">
              <a:solidFill>
                <a:schemeClr val="tx1"/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400" kern="100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Add Bank, Add Address, Previous, Next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400" b="1" kern="100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Status Messages</a:t>
            </a:r>
            <a:endParaRPr lang="en-US" sz="1400" kern="100" dirty="0">
              <a:solidFill>
                <a:schemeClr val="tx1"/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100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Customer data is being saved successfully.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132AC9-C4D4-EF0A-F278-0E4A886CE664}"/>
              </a:ext>
            </a:extLst>
          </p:cNvPr>
          <p:cNvSpPr/>
          <p:nvPr/>
        </p:nvSpPr>
        <p:spPr>
          <a:xfrm>
            <a:off x="6096000" y="177704"/>
            <a:ext cx="5810865" cy="6480054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3C7C59C-2720-A109-8B89-E2BFA89EF95B}"/>
              </a:ext>
            </a:extLst>
          </p:cNvPr>
          <p:cNvGrpSpPr/>
          <p:nvPr/>
        </p:nvGrpSpPr>
        <p:grpSpPr>
          <a:xfrm>
            <a:off x="6416124" y="509952"/>
            <a:ext cx="5132964" cy="6147806"/>
            <a:chOff x="6257911" y="221244"/>
            <a:chExt cx="5132964" cy="588530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5DF4343-8113-843C-220E-B65798BE2F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70040" y="3275401"/>
              <a:ext cx="1646171" cy="283114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BAA090D-5982-A5CA-01E4-7BC0B42C15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7347" y="3275400"/>
              <a:ext cx="1643932" cy="2831144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6EAEB993-E823-AE5B-80A8-DD040AFFB56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57911" y="221244"/>
              <a:ext cx="1649152" cy="2831144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6FFFBD5-2A78-F839-47D7-33A0EB18C00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81941" y="221244"/>
              <a:ext cx="1646914" cy="2831143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3907C143-F32E-3DBE-1AE6-78AE4DC8635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886131" y="238354"/>
              <a:ext cx="1504744" cy="28311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4601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3D6E3-6F25-E044-7F31-C65A608AF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78DA8AB2-9529-A272-2ED2-DBF4D6D1D762}"/>
              </a:ext>
            </a:extLst>
          </p:cNvPr>
          <p:cNvSpPr txBox="1">
            <a:spLocks/>
          </p:cNvSpPr>
          <p:nvPr/>
        </p:nvSpPr>
        <p:spPr>
          <a:xfrm>
            <a:off x="285135" y="146482"/>
            <a:ext cx="5515897" cy="7338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Application Creation Process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832B3E-417E-03EE-C18C-70CDFE44C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828" y="2567552"/>
            <a:ext cx="3657600" cy="9144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Feel Your Relation Contact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B1169-C35E-E23E-999D-C01CFAAA3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135" y="1274609"/>
            <a:ext cx="5515897" cy="5383149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b="1" kern="100" dirty="0">
                <a:effectLst/>
                <a:latin typeface="Calibri Light (Headings)"/>
                <a:ea typeface="Calibri" panose="020F0502020204030204" pitchFamily="34" charset="0"/>
                <a:cs typeface="Times New Roman" panose="02020603050405020304" pitchFamily="18" charset="0"/>
              </a:rPr>
              <a:t>After</a:t>
            </a:r>
            <a:r>
              <a:rPr lang="en-US" sz="1600" b="1" kern="100" dirty="0">
                <a:latin typeface="Calibri Light (Headings)"/>
                <a:ea typeface="Calibri" panose="020F0502020204030204" pitchFamily="34" charset="0"/>
                <a:cs typeface="Times New Roman" panose="02020603050405020304" pitchFamily="18" charset="0"/>
              </a:rPr>
              <a:t> Customer onboarding we feel the application details .</a:t>
            </a:r>
            <a:endParaRPr lang="en-US" sz="1600" kern="100" dirty="0">
              <a:latin typeface="Calibri Light (Headings)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600" kern="100" dirty="0">
                <a:effectLst/>
                <a:latin typeface="Calibri Light (Headings)"/>
                <a:ea typeface="Calibri" panose="020F0502020204030204" pitchFamily="34" charset="0"/>
                <a:cs typeface="Times New Roman" panose="02020603050405020304" pitchFamily="18" charset="0"/>
              </a:rPr>
              <a:t>Feel the application details like Required loan amount , </a:t>
            </a:r>
            <a:r>
              <a:rPr lang="en-US" sz="1600" kern="100" dirty="0">
                <a:latin typeface="Calibri Light (Headings)"/>
                <a:ea typeface="Calibri" panose="020F0502020204030204" pitchFamily="34" charset="0"/>
                <a:cs typeface="Times New Roman" panose="02020603050405020304" pitchFamily="18" charset="0"/>
              </a:rPr>
              <a:t>Required tenure, State ,City repayment mode  ex.</a:t>
            </a:r>
          </a:p>
          <a:p>
            <a:pPr lvl="1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600" dirty="0">
                <a:latin typeface="Calibri Light (Headings)"/>
              </a:rPr>
              <a:t>Profile Financials.</a:t>
            </a:r>
          </a:p>
          <a:p>
            <a:pPr lvl="1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600" dirty="0">
                <a:latin typeface="Calibri Light (Headings)"/>
              </a:rPr>
              <a:t>Property Information Entry.</a:t>
            </a:r>
            <a:endParaRPr lang="en-US" sz="1600" kern="100" dirty="0">
              <a:latin typeface="Calibri Light (Headings)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600" dirty="0">
                <a:latin typeface="Calibri Light (Headings)"/>
              </a:rPr>
              <a:t>Loan Application Sections.</a:t>
            </a:r>
            <a:endParaRPr lang="en-US" sz="1600" kern="100" dirty="0">
              <a:latin typeface="Calibri Light (Headings)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endParaRPr lang="en-US" sz="1600" b="1" kern="100" dirty="0">
              <a:effectLst/>
              <a:latin typeface="Calibri Light (Headings)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B9A272-88DB-D8BD-E0BA-09520A03C141}"/>
              </a:ext>
            </a:extLst>
          </p:cNvPr>
          <p:cNvSpPr/>
          <p:nvPr/>
        </p:nvSpPr>
        <p:spPr>
          <a:xfrm>
            <a:off x="6096000" y="880305"/>
            <a:ext cx="5810865" cy="577745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7F08132-79AB-0812-2439-D1D75239DDF4}"/>
              </a:ext>
            </a:extLst>
          </p:cNvPr>
          <p:cNvGrpSpPr/>
          <p:nvPr/>
        </p:nvGrpSpPr>
        <p:grpSpPr>
          <a:xfrm>
            <a:off x="6614160" y="1274609"/>
            <a:ext cx="5140020" cy="5154855"/>
            <a:chOff x="6705600" y="934064"/>
            <a:chExt cx="5140020" cy="515485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4DCE92F-D986-CA58-2DAF-AA3C2D4BD0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05600" y="934064"/>
              <a:ext cx="2567817" cy="5154855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397EA59-ADB5-55FB-45FF-6AB2097E26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07659" y="934064"/>
              <a:ext cx="2437961" cy="51548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402294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FE8D4-A932-0AE7-6E99-ED3C0823A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080A6B90-A364-93E9-2347-5F73FF30CBA5}"/>
              </a:ext>
            </a:extLst>
          </p:cNvPr>
          <p:cNvSpPr txBox="1">
            <a:spLocks/>
          </p:cNvSpPr>
          <p:nvPr/>
        </p:nvSpPr>
        <p:spPr>
          <a:xfrm>
            <a:off x="285135" y="200241"/>
            <a:ext cx="5515897" cy="7338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18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Fill Your Collateral Details </a:t>
            </a:r>
            <a:endParaRPr lang="en-US" sz="18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70D81-99BB-9838-64EE-83DB44B3C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135" y="1085469"/>
            <a:ext cx="5515896" cy="2064131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lnSpc>
                <a:spcPct val="115000"/>
              </a:lnSpc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6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Name Of Property Owner </a:t>
            </a:r>
          </a:p>
          <a:p>
            <a:pPr>
              <a:lnSpc>
                <a:spcPct val="115000"/>
              </a:lnSpc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House / Flat No</a:t>
            </a:r>
          </a:p>
          <a:p>
            <a:pPr>
              <a:lnSpc>
                <a:spcPct val="115000"/>
              </a:lnSpc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6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Floor and Building name </a:t>
            </a:r>
          </a:p>
          <a:p>
            <a:pPr>
              <a:lnSpc>
                <a:spcPct val="115000"/>
              </a:lnSpc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Village / City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2791FF-AC3E-9451-CD38-FA28E29E278E}"/>
              </a:ext>
            </a:extLst>
          </p:cNvPr>
          <p:cNvSpPr/>
          <p:nvPr/>
        </p:nvSpPr>
        <p:spPr>
          <a:xfrm>
            <a:off x="6597448" y="200241"/>
            <a:ext cx="5309417" cy="6251357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196E5A0-8103-1A5C-74F5-62DB7B582FD6}"/>
              </a:ext>
            </a:extLst>
          </p:cNvPr>
          <p:cNvGrpSpPr/>
          <p:nvPr/>
        </p:nvGrpSpPr>
        <p:grpSpPr>
          <a:xfrm>
            <a:off x="7110575" y="1458352"/>
            <a:ext cx="4555092" cy="4279168"/>
            <a:chOff x="7874666" y="1614122"/>
            <a:chExt cx="3765476" cy="365760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AA64971-5A1C-73B1-8D39-FCA4D5C817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67158" y="1614122"/>
              <a:ext cx="1772984" cy="36576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9661E39-0B1F-0B95-E9EE-021AB99D21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74666" y="1614122"/>
              <a:ext cx="1793104" cy="36576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1BE56522-8EE2-7D72-D044-C56144C6FB94}"/>
              </a:ext>
            </a:extLst>
          </p:cNvPr>
          <p:cNvSpPr txBox="1">
            <a:spLocks/>
          </p:cNvSpPr>
          <p:nvPr/>
        </p:nvSpPr>
        <p:spPr>
          <a:xfrm>
            <a:off x="285135" y="3429000"/>
            <a:ext cx="5515897" cy="7338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18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Fill Your Application -Scheme</a:t>
            </a:r>
            <a:endParaRPr lang="en-US" sz="18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4EE5A1A4-5A3F-6ED9-42ED-8ED147CA7E39}"/>
              </a:ext>
            </a:extLst>
          </p:cNvPr>
          <p:cNvSpPr txBox="1">
            <a:spLocks/>
          </p:cNvSpPr>
          <p:nvPr/>
        </p:nvSpPr>
        <p:spPr>
          <a:xfrm>
            <a:off x="285136" y="4358639"/>
            <a:ext cx="5515895" cy="20929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15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Installments</a:t>
            </a:r>
          </a:p>
          <a:p>
            <a:pPr marL="342900" indent="-342900">
              <a:lnSpc>
                <a:spcPct val="115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EMI</a:t>
            </a:r>
          </a:p>
          <a:p>
            <a:pPr marL="342900" indent="-342900">
              <a:lnSpc>
                <a:spcPct val="115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Monthly</a:t>
            </a:r>
          </a:p>
          <a:p>
            <a:pPr marL="342900" indent="-342900">
              <a:lnSpc>
                <a:spcPct val="115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Price value</a:t>
            </a:r>
          </a:p>
        </p:txBody>
      </p:sp>
    </p:spTree>
    <p:extLst>
      <p:ext uri="{BB962C8B-B14F-4D97-AF65-F5344CB8AC3E}">
        <p14:creationId xmlns:p14="http://schemas.microsoft.com/office/powerpoint/2010/main" val="22428691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AF8D7-8270-873D-0835-B251650C4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919" y="242444"/>
            <a:ext cx="7253911" cy="432434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1800" b="1" dirty="0"/>
              <a:t>Loan Application Card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A264C4A-77B8-7C5C-EA6E-788844AEEA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920" y="927862"/>
            <a:ext cx="7253912" cy="551357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 marL="342900" marR="0" lvl="0" indent="-342900">
              <a:lnSpc>
                <a:spcPct val="115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Customer data Fill:</a:t>
            </a:r>
          </a:p>
          <a:p>
            <a:pPr marL="0" marR="0">
              <a:lnSpc>
                <a:spcPct val="115000"/>
              </a:lnSpc>
              <a:buNone/>
            </a:pPr>
            <a:r>
              <a:rPr lang="en-US" sz="1600" b="1" kern="100" dirty="0">
                <a:solidFill>
                  <a:srgbClr val="000000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Loan Application Card </a:t>
            </a:r>
          </a:p>
          <a:p>
            <a:pPr marL="0" marR="0">
              <a:lnSpc>
                <a:spcPct val="115000"/>
              </a:lnSpc>
              <a:buNone/>
            </a:pPr>
            <a:r>
              <a:rPr lang="en-US" sz="1600" b="1" kern="100" dirty="0">
                <a:solidFill>
                  <a:srgbClr val="000000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Applicant Name</a:t>
            </a:r>
            <a:r>
              <a:rPr lang="en-US" sz="1600" kern="100" dirty="0">
                <a:solidFill>
                  <a:srgbClr val="000000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:  Customer Name</a:t>
            </a:r>
          </a:p>
          <a:p>
            <a:pPr marL="0">
              <a:lnSpc>
                <a:spcPct val="115000"/>
              </a:lnSpc>
              <a:buNone/>
            </a:pPr>
            <a:r>
              <a:rPr lang="en-US" sz="1600" b="1" kern="100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Nominee Name: </a:t>
            </a:r>
            <a:r>
              <a:rPr lang="en-US" sz="1600" kern="100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- </a:t>
            </a:r>
            <a:r>
              <a:rPr lang="en-US" sz="1600" kern="100" dirty="0">
                <a:solidFill>
                  <a:srgbClr val="000000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Customer  </a:t>
            </a:r>
            <a:r>
              <a:rPr lang="en-US" sz="1600" b="1" kern="100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Nominee </a:t>
            </a:r>
            <a:r>
              <a:rPr lang="en-US" sz="1600" kern="100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dirty="0">
                <a:solidFill>
                  <a:srgbClr val="000000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Name</a:t>
            </a:r>
          </a:p>
          <a:p>
            <a:pPr marL="342900" marR="0" lvl="0" indent="-342900">
              <a:lnSpc>
                <a:spcPct val="115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b="1" kern="100" dirty="0">
                <a:solidFill>
                  <a:srgbClr val="000000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Contact Information</a:t>
            </a:r>
            <a:r>
              <a:rPr lang="en-US" sz="1600" kern="100" dirty="0">
                <a:solidFill>
                  <a:srgbClr val="000000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15000"/>
              </a:lnSpc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sz="1600" b="1" kern="100" dirty="0">
                <a:solidFill>
                  <a:srgbClr val="000000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Phone Number</a:t>
            </a:r>
            <a:r>
              <a:rPr lang="en-US" sz="1600" kern="100" dirty="0">
                <a:solidFill>
                  <a:srgbClr val="000000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: 93150</a:t>
            </a:r>
          </a:p>
          <a:p>
            <a:pPr marL="742950" marR="0" lvl="1" indent="-285750">
              <a:lnSpc>
                <a:spcPct val="115000"/>
              </a:lnSpc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sz="1600" b="1" kern="100" dirty="0">
                <a:solidFill>
                  <a:srgbClr val="000000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Address</a:t>
            </a:r>
            <a:r>
              <a:rPr lang="en-US" sz="1600" kern="100" dirty="0">
                <a:solidFill>
                  <a:srgbClr val="000000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: Udal Nagar, Patel Nagar, Ghaziabad, Uttar Pradesh</a:t>
            </a:r>
          </a:p>
          <a:p>
            <a:pPr marL="342900" marR="0" lvl="0" indent="-342900">
              <a:lnSpc>
                <a:spcPct val="115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b="1" kern="100" dirty="0">
                <a:solidFill>
                  <a:srgbClr val="000000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Application Details</a:t>
            </a:r>
            <a:r>
              <a:rPr lang="en-US" sz="1600" kern="100" dirty="0">
                <a:solidFill>
                  <a:srgbClr val="000000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15000"/>
              </a:lnSpc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sz="1600" b="1" kern="100" dirty="0">
                <a:solidFill>
                  <a:srgbClr val="000000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Application Date</a:t>
            </a:r>
            <a:r>
              <a:rPr lang="en-US" sz="1600" kern="100" dirty="0">
                <a:solidFill>
                  <a:srgbClr val="000000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: 15-05-2025</a:t>
            </a:r>
          </a:p>
          <a:p>
            <a:pPr marL="742950" marR="0" lvl="1" indent="-285750">
              <a:lnSpc>
                <a:spcPct val="115000"/>
              </a:lnSpc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sz="1600" b="1" kern="100" dirty="0">
                <a:solidFill>
                  <a:srgbClr val="000000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Application Number</a:t>
            </a:r>
            <a:r>
              <a:rPr lang="en-US" sz="1600" kern="100" dirty="0">
                <a:solidFill>
                  <a:srgbClr val="000000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</a:p>
          <a:p>
            <a:pPr marL="742950" marR="0" lvl="1" indent="-285750">
              <a:lnSpc>
                <a:spcPct val="115000"/>
              </a:lnSpc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sz="1600" b="1" kern="100" dirty="0">
                <a:solidFill>
                  <a:srgbClr val="000000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Application Status</a:t>
            </a:r>
            <a:r>
              <a:rPr lang="en-US" sz="1600" kern="100" dirty="0">
                <a:solidFill>
                  <a:srgbClr val="000000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: Feeding</a:t>
            </a:r>
          </a:p>
          <a:p>
            <a:pPr marL="742950" marR="0" lvl="1" indent="-285750">
              <a:lnSpc>
                <a:spcPct val="115000"/>
              </a:lnSpc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sz="1600" b="1" kern="100" dirty="0">
                <a:solidFill>
                  <a:srgbClr val="000000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Required Date</a:t>
            </a:r>
            <a:r>
              <a:rPr lang="en-US" sz="1600" kern="100" dirty="0">
                <a:solidFill>
                  <a:srgbClr val="000000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: 15-05-2025</a:t>
            </a:r>
          </a:p>
          <a:p>
            <a:pPr marL="742950" marR="0" lvl="1" indent="-285750">
              <a:lnSpc>
                <a:spcPct val="115000"/>
              </a:lnSpc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sz="1600" kern="100" dirty="0">
                <a:solidFill>
                  <a:srgbClr val="000000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Loan Amount : - 500000</a:t>
            </a:r>
          </a:p>
          <a:p>
            <a:pPr marL="742950" marR="0" lvl="1" indent="-285750">
              <a:lnSpc>
                <a:spcPct val="115000"/>
              </a:lnSpc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sz="1600" b="1" kern="100" dirty="0">
                <a:solidFill>
                  <a:srgbClr val="000000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Loan Tenure</a:t>
            </a:r>
            <a:r>
              <a:rPr lang="en-US" sz="1600" kern="100" dirty="0">
                <a:solidFill>
                  <a:srgbClr val="000000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: 96 months</a:t>
            </a:r>
          </a:p>
          <a:p>
            <a:pPr marL="342900" marR="0" lvl="0" indent="-342900">
              <a:lnSpc>
                <a:spcPct val="115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b="1" kern="100" dirty="0">
                <a:solidFill>
                  <a:srgbClr val="000000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Borrower</a:t>
            </a:r>
            <a:r>
              <a:rPr lang="en-US" sz="1600" kern="100" dirty="0">
                <a:solidFill>
                  <a:srgbClr val="000000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: Customer Name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39BBA81-0E99-219F-447F-158357680C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91887" y="1180845"/>
            <a:ext cx="2471265" cy="513016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1FA29B85-4255-EA23-2F8A-D697114A2D52}"/>
              </a:ext>
            </a:extLst>
          </p:cNvPr>
          <p:cNvSpPr/>
          <p:nvPr/>
        </p:nvSpPr>
        <p:spPr>
          <a:xfrm>
            <a:off x="8331201" y="892493"/>
            <a:ext cx="3190240" cy="557469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2788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D6806-1266-8E48-47E8-2D802D787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98435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2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Features </a:t>
            </a:r>
            <a:endParaRPr lang="en-US" sz="2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52434-5FED-4F31-444D-14D776E80E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3497"/>
            <a:ext cx="10515600" cy="2045109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342900" indent="-342900">
              <a:lnSpc>
                <a:spcPct val="115000"/>
              </a:lnSpc>
              <a:buFont typeface="Wingdings" panose="05000000000000000000" pitchFamily="2" charset="2"/>
              <a:buChar char=""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User-Friendly Interfaces: Straightforward entry fields for loan applications and customer management. </a:t>
            </a:r>
          </a:p>
          <a:p>
            <a:pPr marL="342900" marR="0" lvl="0" indent="-342900">
              <a:lnSpc>
                <a:spcPct val="115000"/>
              </a:lnSpc>
              <a:buFont typeface="Wingdings" panose="05000000000000000000" pitchFamily="2" charset="2"/>
              <a:buChar char=""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Multiple Stages in Application Process: Step-by-step guidance for users from login to application submission. 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"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 Management: Input fields for customer and property details, enabling comprehensive financial management.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22898F5-BA2E-9464-7ECD-4E784A014BEC}"/>
              </a:ext>
            </a:extLst>
          </p:cNvPr>
          <p:cNvSpPr txBox="1">
            <a:spLocks/>
          </p:cNvSpPr>
          <p:nvPr/>
        </p:nvSpPr>
        <p:spPr>
          <a:xfrm>
            <a:off x="838200" y="4007977"/>
            <a:ext cx="10515600" cy="59843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2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B2028D-AC8E-DD69-110F-23B6D5C9A2A2}"/>
              </a:ext>
            </a:extLst>
          </p:cNvPr>
          <p:cNvSpPr txBox="1"/>
          <p:nvPr/>
        </p:nvSpPr>
        <p:spPr>
          <a:xfrm>
            <a:off x="838200" y="4701151"/>
            <a:ext cx="10515600" cy="7107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This application facilitates loan management by providing a structured interface for user login, customer data management, loan applications, and property verification, aimed at a seamless financial operation.</a:t>
            </a:r>
          </a:p>
        </p:txBody>
      </p:sp>
    </p:spTree>
    <p:extLst>
      <p:ext uri="{BB962C8B-B14F-4D97-AF65-F5344CB8AC3E}">
        <p14:creationId xmlns:p14="http://schemas.microsoft.com/office/powerpoint/2010/main" val="1246991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537</Words>
  <Application>Microsoft Office PowerPoint</Application>
  <PresentationFormat>Widescreen</PresentationFormat>
  <Paragraphs>110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Calibri Light</vt:lpstr>
      <vt:lpstr>Calibri Light (Headings)</vt:lpstr>
      <vt:lpstr>Courier New</vt:lpstr>
      <vt:lpstr>Symbol</vt:lpstr>
      <vt:lpstr>Wingdings</vt:lpstr>
      <vt:lpstr>Office Theme</vt:lpstr>
      <vt:lpstr>PowerPoint Presentation</vt:lpstr>
      <vt:lpstr>Loan360 - Standard Operating Procedure</vt:lpstr>
      <vt:lpstr>Procedure</vt:lpstr>
      <vt:lpstr>Dashboard Overview</vt:lpstr>
      <vt:lpstr>Customer Search &amp; Onboarding</vt:lpstr>
      <vt:lpstr>Customer Onboarding </vt:lpstr>
      <vt:lpstr>Profile Document Verification</vt:lpstr>
      <vt:lpstr>PowerPoint Presentation</vt:lpstr>
      <vt:lpstr>Feel Your Relation Contact</vt:lpstr>
      <vt:lpstr>PowerPoint Presentation</vt:lpstr>
      <vt:lpstr>Loan Application Card</vt:lpstr>
      <vt:lpstr>Key Features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Nitish Kumar</dc:creator>
  <cp:lastModifiedBy>Nitish Kumar</cp:lastModifiedBy>
  <cp:revision>90</cp:revision>
  <dcterms:created xsi:type="dcterms:W3CDTF">2025-05-15T08:41:36Z</dcterms:created>
  <dcterms:modified xsi:type="dcterms:W3CDTF">2025-05-15T12:29:12Z</dcterms:modified>
</cp:coreProperties>
</file>