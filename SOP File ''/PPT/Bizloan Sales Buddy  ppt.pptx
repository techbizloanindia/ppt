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5" r:id="rId2"/>
    <p:sldId id="257" r:id="rId3"/>
    <p:sldId id="258" r:id="rId4"/>
    <p:sldId id="259" r:id="rId5"/>
    <p:sldId id="260" r:id="rId6"/>
    <p:sldId id="261" r:id="rId7"/>
    <p:sldId id="288" r:id="rId8"/>
    <p:sldId id="287" r:id="rId9"/>
    <p:sldId id="28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D2A05-9253-43A8-A44D-3C2B691E43A8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BA86C-700E-462E-BD09-3D3832D2A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770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473EF-AD41-E53B-303F-D4097EA28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2351F-C3B8-46B8-5F94-A94AD1A18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6FA0E-FAB3-13D4-6FB1-757ED4650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4EF59-66A7-817B-B134-399A68E39B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291C8-0412-C645-B778-6F316880E04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334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6D9B7-EFF9-EB0D-FC46-8E87A43A9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71BE7A-25EE-F3D5-FE8D-87195C930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F0EACF-8CAD-91B7-ED37-5A9E06142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6842-7C14-3EB9-EEBF-F543E2014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291C8-0412-C645-B778-6F316880E04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795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D0B3B-7BE6-2A1D-1295-64A7DFAF6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131B62-B9E8-88CC-4FB0-C1E1B28A2F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F314D-5BB7-0DA2-4D4C-2441637AE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FB92-1D7E-4850-941F-FEC08BF9FDA8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489B6-7AD6-75CD-6738-CC4486858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6A60-B3D7-0E4F-F1B5-FD1727F0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9AFDD-B17C-4548-BFF2-5825AC42E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921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79800-D881-9008-11E4-CF400F536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308D6-F9E1-B2A3-C9FB-9780AE7BE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365DA-D3AD-7D65-9AA8-EF272695B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FB92-1D7E-4850-941F-FEC08BF9FDA8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354B3-0F82-FB4E-F726-0EBB583D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163C0-0905-4227-E693-FFE70650C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9AFDD-B17C-4548-BFF2-5825AC42E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377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EB931-1831-C3E0-3A7B-65BD812C4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01CE0-9ACB-EB6D-29D2-F2465B8E4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66C45-4C21-7542-1ACB-D1872D9C1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FB92-1D7E-4850-941F-FEC08BF9FDA8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30F97-A818-0DE5-4FE4-053D7E37A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D74DF-7980-C779-76A7-E6B34F16E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9AFDD-B17C-4548-BFF2-5825AC42E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13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2FBE0-AF8D-EB5C-E68D-BA3C49333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A810C-A0E3-0329-0D0D-D3A500246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D646A-E4F6-494F-B4B1-940ED1F8A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D1027-E4BD-27DA-B858-94A25E723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FB92-1D7E-4850-941F-FEC08BF9FDA8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4126F-73C1-6C6D-6B99-06F0A5A43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3AB4E-F8DF-0725-695E-1ACD12CBB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9AFDD-B17C-4548-BFF2-5825AC42E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583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49AE3-6C14-2DE4-F1A5-CE7B1DA35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F0532-CEBA-68B5-BE81-9F50E5930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55E1A-9015-200E-2A18-B78BDD8D5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3D0440-52F4-52F9-78D1-4F76425A2F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01AEA6-BBC8-8C79-8D3F-4178B76594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333556-8FC8-E75A-4E85-EE44EAFB8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FB92-1D7E-4850-941F-FEC08BF9FDA8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CE0A39-29FD-B473-4D49-60478A6AB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3770F2-CF38-17E0-C095-57DEE9A29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9AFDD-B17C-4548-BFF2-5825AC42E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114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DE02B-FB37-6039-F59D-9BC859557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613FC5-D1BC-5B78-CDAC-07FAF7CF3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FB92-1D7E-4850-941F-FEC08BF9FDA8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8B7DC4-FD2F-78A7-04D9-EED772BD6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BF897-C7F6-4A71-BF54-895E9F53F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9AFDD-B17C-4548-BFF2-5825AC42E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87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B0E282-491C-AC8F-C91C-D78780C93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FB92-1D7E-4850-941F-FEC08BF9FDA8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0B1A3-04E4-C593-278E-728065373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96A3C-4327-EC26-7EBF-22C0EDF61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9AFDD-B17C-4548-BFF2-5825AC42E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4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BF7BE-6774-F79F-D205-4C9BA7D15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9B6A0-B950-9869-3BF0-343494523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A28B21-412A-88C4-6367-7BAF1195F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BC621-07C5-4247-FA51-73880BCA6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FB92-1D7E-4850-941F-FEC08BF9FDA8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2A41B-8B16-4747-83F5-F2ABD3BA3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AA41B-F436-4DFB-2C09-7ECD653F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9AFDD-B17C-4548-BFF2-5825AC42E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496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B3A15-4B9E-EBA2-23A3-79EB20A0F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3E1D47-8D5B-EE2C-0211-ABF706BF1A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04EB6C-B873-FEBD-D181-326818B2C3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16A5F-9750-0BCB-99B1-949DFA0E9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FB92-1D7E-4850-941F-FEC08BF9FDA8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B5931-39FE-26A3-45CE-CAF210682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D95FE-EC7B-216C-014B-E6955540A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9AFDD-B17C-4548-BFF2-5825AC42E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9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D2F4-F4C8-397E-C8F7-D3B0914A0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40704D-4765-11FB-5EA4-3500CC240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55D03-7274-D6F1-8D83-141B639B1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FB92-1D7E-4850-941F-FEC08BF9FDA8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76657-87AE-DC4C-BC3A-0F1AF939E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77068-C360-346B-6A6C-D66F55499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9AFDD-B17C-4548-BFF2-5825AC42E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5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E453E-9443-7ADD-05BC-B9BD8BAD5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C9DA7F-91E9-B53C-F3F3-40BD19AC9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5A0A5-5DBB-CCE6-7AC5-91548BF59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9FB92-1D7E-4850-941F-FEC08BF9FDA8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48AAA-8657-BBD8-9574-C6E091455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354AE-FB9B-FC25-4ABB-A54BD260D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9AFDD-B17C-4548-BFF2-5825AC42E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446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823ED4-D948-E79C-B711-66538AECB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87FCB-4B6F-5E35-CC69-FE23D70D1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806EE-C419-3CC9-10F6-5E44B01422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9FB92-1D7E-4850-941F-FEC08BF9FDA8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8C57A-C24C-7595-EAFD-A771287C5E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809B1-B607-E8DC-F358-B6B0D2813F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9AFDD-B17C-4548-BFF2-5825AC42E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434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A1471-A2C6-B953-DBFA-A103E472B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53C2-C853-CDB3-558F-32A2AC15D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239" y="2308617"/>
            <a:ext cx="7059761" cy="1325563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Bizloan Sales Buddy App.</a:t>
            </a:r>
          </a:p>
        </p:txBody>
      </p:sp>
    </p:spTree>
    <p:extLst>
      <p:ext uri="{BB962C8B-B14F-4D97-AF65-F5344CB8AC3E}">
        <p14:creationId xmlns:p14="http://schemas.microsoft.com/office/powerpoint/2010/main" val="285036033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EE6AD-45EE-FFFB-E167-B8E2080AB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313D33-D273-2191-4A88-E891B46A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943" y="457199"/>
            <a:ext cx="7320986" cy="458070"/>
          </a:xfrm>
        </p:spPr>
        <p:txBody>
          <a:bodyPr>
            <a:normAutofit/>
          </a:bodyPr>
          <a:lstStyle/>
          <a:p>
            <a:r>
              <a:rPr lang="en-US" sz="18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Logging In and Checking In.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905C3C3A-E36C-1DA6-C031-B510116675B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085" y="457199"/>
            <a:ext cx="2728527" cy="60742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83F1E0-DED8-5310-5CC8-53C81B132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366684"/>
            <a:ext cx="7252160" cy="4502304"/>
          </a:xfrm>
        </p:spPr>
        <p:txBody>
          <a:bodyPr>
            <a:normAutofit/>
          </a:bodyPr>
          <a:lstStyle/>
          <a:p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After launching the Sales Buddy and logging in with your credentials, the Home screen displays your profile</a:t>
            </a:r>
            <a:r>
              <a:rPr lang="en-US" sz="1400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card</a:t>
            </a:r>
            <a:r>
              <a:rPr lang="en-US" sz="1400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(name,</a:t>
            </a:r>
            <a:r>
              <a:rPr lang="en-US" sz="1400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role,</a:t>
            </a:r>
            <a:r>
              <a:rPr lang="en-US" sz="1400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and</a:t>
            </a:r>
            <a:r>
              <a:rPr lang="en-US" sz="1400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branch).</a:t>
            </a:r>
            <a:r>
              <a:rPr lang="en-US" sz="1400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</a:p>
          <a:p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To</a:t>
            </a:r>
            <a:r>
              <a:rPr lang="en-US" sz="1400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begin</a:t>
            </a:r>
            <a:r>
              <a:rPr lang="en-US" sz="1400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your</a:t>
            </a:r>
            <a:r>
              <a:rPr lang="en-US" sz="1400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day,</a:t>
            </a:r>
            <a:r>
              <a:rPr lang="en-US" sz="1400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tap</a:t>
            </a:r>
            <a:r>
              <a:rPr lang="en-US" sz="1400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Check</a:t>
            </a:r>
            <a:r>
              <a:rPr lang="en-US" sz="1400" spc="-8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</a:t>
            </a:r>
            <a:r>
              <a:rPr lang="en-US" sz="1400" spc="-8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(located</a:t>
            </a:r>
            <a:r>
              <a:rPr lang="en-US" sz="1400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to</a:t>
            </a:r>
            <a:r>
              <a:rPr lang="en-US" sz="1400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1400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right</a:t>
            </a:r>
            <a:r>
              <a:rPr lang="en-US" sz="1400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of</a:t>
            </a:r>
            <a:r>
              <a:rPr lang="en-US" sz="1400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your</a:t>
            </a:r>
            <a:r>
              <a:rPr lang="en-US" sz="1400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profile) and allow the app to capture a photo for verification. </a:t>
            </a:r>
            <a:b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</a:br>
            <a:endParaRPr lang="en-US" sz="140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 app will then show your check-in time under Check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and change the button to Check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Out. </a:t>
            </a:r>
          </a:p>
          <a:p>
            <a:b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</a:b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At the end of your day, tap</a:t>
            </a:r>
            <a:r>
              <a:rPr lang="en-US" sz="1400" spc="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Check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Out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and capture a photo</a:t>
            </a:r>
            <a:r>
              <a:rPr lang="en-US" sz="1400" spc="2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to record your departure time. </a:t>
            </a:r>
          </a:p>
          <a:p>
            <a:pPr marL="361950" marR="74930" indent="-285750">
              <a:lnSpc>
                <a:spcPct val="115000"/>
              </a:lnSpc>
              <a:spcBef>
                <a:spcPts val="1080"/>
              </a:spcBef>
              <a:buFont typeface="Wingdings" panose="05000000000000000000" pitchFamily="2" charset="2"/>
              <a:buChar char="Ø"/>
            </a:pP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Open and log in: Launch the app and enter your user credentials. Upon successful</a:t>
            </a:r>
            <a:r>
              <a:rPr lang="en-US" sz="1400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login,</a:t>
            </a:r>
            <a:r>
              <a:rPr lang="en-US" sz="1400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you</a:t>
            </a:r>
            <a:r>
              <a:rPr lang="en-US" sz="1400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will</a:t>
            </a:r>
            <a:r>
              <a:rPr lang="en-US" sz="1400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see</a:t>
            </a:r>
            <a:r>
              <a:rPr lang="en-US" sz="1400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your</a:t>
            </a:r>
            <a:r>
              <a:rPr lang="en-US" sz="1400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profile</a:t>
            </a:r>
            <a:r>
              <a:rPr lang="en-US" sz="1400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card</a:t>
            </a:r>
            <a:r>
              <a:rPr lang="en-US" sz="1400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on</a:t>
            </a:r>
            <a:r>
              <a:rPr lang="en-US" sz="1400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1400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Home</a:t>
            </a:r>
            <a:r>
              <a:rPr lang="en-US" sz="1400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screen. </a:t>
            </a:r>
          </a:p>
          <a:p>
            <a:pPr marL="361950" marR="74930" indent="-285750">
              <a:lnSpc>
                <a:spcPct val="115000"/>
              </a:lnSpc>
              <a:spcBef>
                <a:spcPts val="1080"/>
              </a:spcBef>
              <a:buFont typeface="Wingdings" panose="05000000000000000000" pitchFamily="2" charset="2"/>
              <a:buChar char="Ø"/>
            </a:pPr>
            <a:r>
              <a:rPr lang="en-US" sz="1400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heck In: Tap the Check In button. The camera will open; take a clear photo of yourself or your surroundings as prompted. Confirm the photo to complete check-in.</a:t>
            </a:r>
          </a:p>
          <a:p>
            <a:pPr marL="361950" marR="74930" indent="-285750">
              <a:lnSpc>
                <a:spcPct val="115000"/>
              </a:lnSpc>
              <a:spcBef>
                <a:spcPts val="1080"/>
              </a:spcBef>
              <a:buFont typeface="Wingdings" panose="05000000000000000000" pitchFamily="2" charset="2"/>
              <a:buChar char="Ø"/>
            </a:pPr>
            <a:r>
              <a:rPr lang="en-US" sz="1400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V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erify</a:t>
            </a:r>
            <a:r>
              <a:rPr lang="en-US" sz="1400" spc="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check-in:</a:t>
            </a:r>
            <a:r>
              <a:rPr lang="en-US" sz="1400" spc="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After</a:t>
            </a:r>
            <a:r>
              <a:rPr lang="en-US" sz="1400" spc="6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</a:t>
            </a:r>
            <a:r>
              <a:rPr lang="en-US" sz="1400" spc="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successful</a:t>
            </a:r>
            <a:r>
              <a:rPr lang="en-US" sz="1400" spc="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check-in,</a:t>
            </a:r>
            <a:r>
              <a:rPr lang="en-US" sz="1400" spc="6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1400" spc="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screen</a:t>
            </a:r>
            <a:r>
              <a:rPr lang="en-US" sz="1400" spc="6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will</a:t>
            </a:r>
            <a:r>
              <a:rPr lang="en-US" sz="1400" spc="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display</a:t>
            </a:r>
            <a:r>
              <a:rPr lang="en-US" sz="1400" spc="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your</a:t>
            </a:r>
            <a:r>
              <a:rPr lang="en-US" sz="1400" spc="6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photo</a:t>
            </a:r>
            <a:r>
              <a:rPr lang="en-US" sz="1400" spc="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and</a:t>
            </a:r>
            <a:r>
              <a:rPr lang="en-US" sz="1400" spc="6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1400" spc="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current</a:t>
            </a:r>
            <a:r>
              <a:rPr lang="en-US" sz="1400" spc="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time</a:t>
            </a:r>
            <a:r>
              <a:rPr lang="en-US" sz="1400" spc="6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under</a:t>
            </a:r>
            <a:r>
              <a:rPr lang="en-US" sz="1400" dirty="0"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Check</a:t>
            </a:r>
            <a:r>
              <a:rPr lang="en-US" sz="1400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in.</a:t>
            </a:r>
            <a:r>
              <a:rPr lang="en-US" sz="1400" spc="-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1400" spc="-5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Check</a:t>
            </a:r>
            <a:r>
              <a:rPr lang="en-US" sz="1400" spc="-70" dirty="0"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Out</a:t>
            </a:r>
            <a:r>
              <a:rPr lang="en-US" sz="1400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button</a:t>
            </a:r>
            <a:r>
              <a:rPr lang="en-US" sz="1400" spc="-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will</a:t>
            </a:r>
            <a:r>
              <a:rPr lang="en-US" sz="1400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appear.</a:t>
            </a:r>
            <a:endParaRPr lang="en-US" sz="140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88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A58D9-24CD-172A-6329-97ACBD10C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8D1124-84FA-EA75-0483-6FA2685EC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7320986" cy="634181"/>
          </a:xfrm>
        </p:spPr>
        <p:txBody>
          <a:bodyPr>
            <a:normAutofit/>
          </a:bodyPr>
          <a:lstStyle/>
          <a:p>
            <a:pPr marL="76200" marR="0" algn="just"/>
            <a:r>
              <a:rPr lang="en-US" sz="1800" b="1" dirty="0">
                <a:effectLst/>
                <a:latin typeface="Arial" panose="020B06040202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Navigating</a:t>
            </a:r>
            <a:r>
              <a:rPr lang="en-US" sz="1800" b="1" spc="80" dirty="0">
                <a:effectLst/>
                <a:latin typeface="Arial" panose="020B06040202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en-US" sz="1800" b="1" dirty="0">
                <a:effectLst/>
                <a:latin typeface="Arial" panose="020B06040202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the</a:t>
            </a:r>
            <a:r>
              <a:rPr lang="en-US" sz="1800" b="1" spc="80" dirty="0">
                <a:effectLst/>
                <a:latin typeface="Arial" panose="020B06040202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en-US" sz="1800" b="1" spc="-10" dirty="0">
                <a:effectLst/>
                <a:latin typeface="Arial" panose="020B06040202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Dashboard</a:t>
            </a:r>
            <a:endParaRPr lang="en-US" sz="1800" b="1" dirty="0">
              <a:effectLst/>
              <a:latin typeface="Arial Black" panose="020B0A04020102020204" pitchFamily="34" charset="0"/>
              <a:ea typeface="Arial Black" panose="020B0A04020102020204" pitchFamily="34" charset="0"/>
              <a:cs typeface="Arial Black" panose="020B0A04020102020204" pitchFamily="34" charset="0"/>
            </a:endParaRPr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90475ECF-852E-7A25-41DC-62F3B357D7B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50085" y="457199"/>
            <a:ext cx="2728527" cy="60742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5F18E4-ECC1-FFFE-4771-7AE7B146E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366683"/>
            <a:ext cx="7252160" cy="4906297"/>
          </a:xfrm>
        </p:spPr>
        <p:txBody>
          <a:bodyPr>
            <a:noAutofit/>
          </a:bodyPr>
          <a:lstStyle/>
          <a:p>
            <a:pPr marL="76200" marR="74930" algn="just">
              <a:lnSpc>
                <a:spcPct val="111000"/>
              </a:lnSpc>
              <a:spcBef>
                <a:spcPts val="930"/>
              </a:spcBef>
              <a:buNone/>
            </a:pP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 Home screen includes a Leads Statistics section showing key metrics at a glance. Each metric is displayed in a colored panel with an icon. Use these to monitor your pipeline: - Follow</a:t>
            </a:r>
            <a:r>
              <a:rPr lang="en-US" sz="1400" spc="-5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Up</a:t>
            </a:r>
            <a:r>
              <a:rPr lang="en-US" sz="1400" spc="-5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Leads:</a:t>
            </a:r>
            <a:r>
              <a:rPr lang="en-US" sz="1400" spc="-5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Number of leads flagged for follow-up contact (green icon).</a:t>
            </a:r>
          </a:p>
          <a:p>
            <a:pPr marL="742950" marR="0" lvl="1" indent="-285750">
              <a:spcBef>
                <a:spcPts val="50"/>
              </a:spcBef>
              <a:buSzPts val="900"/>
              <a:buFont typeface="Arial MT"/>
              <a:buChar char="-"/>
              <a:tabLst>
                <a:tab pos="141605" algn="l"/>
              </a:tabLst>
            </a:pP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Green</a:t>
            </a:r>
            <a:r>
              <a:rPr lang="en-US" b="1" spc="-8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Leads:</a:t>
            </a:r>
            <a:r>
              <a:rPr lang="en-US" b="1" spc="-8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High-priority</a:t>
            </a:r>
            <a:r>
              <a:rPr lang="en-US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or</a:t>
            </a:r>
            <a:r>
              <a:rPr lang="en-US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high-probability</a:t>
            </a:r>
            <a:r>
              <a:rPr lang="en-US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(green</a:t>
            </a:r>
            <a:r>
              <a:rPr lang="en-US" spc="-6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color-coded</a:t>
            </a:r>
            <a:r>
              <a:rPr lang="en-US" spc="-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funnel</a:t>
            </a:r>
            <a:r>
              <a:rPr lang="en-US" spc="-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icon).</a:t>
            </a:r>
            <a:endParaRPr lang="en-US" spc="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742950" marR="0" lvl="1" indent="-285750">
              <a:spcBef>
                <a:spcPts val="80"/>
              </a:spcBef>
              <a:buSzPts val="900"/>
              <a:buFont typeface="Arial MT"/>
              <a:buChar char="-"/>
              <a:tabLst>
                <a:tab pos="141605" algn="l"/>
              </a:tabLst>
            </a:pP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Amber</a:t>
            </a:r>
            <a:r>
              <a:rPr lang="en-US" b="1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Leads:</a:t>
            </a:r>
            <a:r>
              <a:rPr lang="en-US" b="1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Medium-priority</a:t>
            </a:r>
            <a:r>
              <a:rPr lang="en-US" spc="3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3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(yellow</a:t>
            </a:r>
            <a:r>
              <a:rPr lang="en-US" spc="3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icon).</a:t>
            </a:r>
            <a:endParaRPr lang="en-US" spc="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742950" marR="0" lvl="1" indent="-285750">
              <a:spcBef>
                <a:spcPts val="80"/>
              </a:spcBef>
              <a:buSzPts val="900"/>
              <a:buFont typeface="Arial MT"/>
              <a:buChar char="-"/>
              <a:tabLst>
                <a:tab pos="141605" algn="l"/>
              </a:tabLst>
            </a:pP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Red</a:t>
            </a:r>
            <a:r>
              <a:rPr lang="en-US" b="1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:</a:t>
            </a:r>
            <a:r>
              <a:rPr lang="en-US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Low-priority</a:t>
            </a:r>
            <a:r>
              <a:rPr lang="en-US" spc="3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or</a:t>
            </a:r>
            <a:r>
              <a:rPr lang="en-US" spc="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problem</a:t>
            </a:r>
            <a:r>
              <a:rPr lang="en-US" spc="3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(red</a:t>
            </a:r>
            <a:r>
              <a:rPr lang="en-US" spc="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icon).</a:t>
            </a:r>
            <a:endParaRPr lang="en-US" spc="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742950" marR="0" lvl="1" indent="-285750">
              <a:spcBef>
                <a:spcPts val="85"/>
              </a:spcBef>
              <a:buSzPts val="900"/>
              <a:buFont typeface="Arial MT"/>
              <a:buChar char="-"/>
              <a:tabLst>
                <a:tab pos="141605" algn="l"/>
              </a:tabLst>
            </a:pP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Pre</a:t>
            </a:r>
            <a:r>
              <a:rPr lang="en-US" b="1" spc="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:</a:t>
            </a:r>
            <a:r>
              <a:rPr lang="en-US" spc="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Preliminary</a:t>
            </a:r>
            <a:r>
              <a:rPr lang="en-US" spc="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inquiries</a:t>
            </a:r>
            <a:r>
              <a:rPr lang="en-US" spc="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or</a:t>
            </a:r>
            <a:r>
              <a:rPr lang="en-US" spc="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pre-qualified</a:t>
            </a:r>
            <a:r>
              <a:rPr lang="en-US" spc="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(blue</a:t>
            </a:r>
            <a:r>
              <a:rPr lang="en-US" spc="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icon).</a:t>
            </a:r>
            <a:endParaRPr lang="en-US" spc="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742950" marR="0" lvl="1" indent="-285750">
              <a:spcBef>
                <a:spcPts val="80"/>
              </a:spcBef>
              <a:buSzPts val="900"/>
              <a:buFont typeface="Arial MT"/>
              <a:buChar char="-"/>
              <a:tabLst>
                <a:tab pos="141605" algn="l"/>
              </a:tabLst>
            </a:pP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b="1" spc="-4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</a:t>
            </a:r>
            <a:r>
              <a:rPr lang="en-US" b="1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Process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:</a:t>
            </a:r>
            <a:r>
              <a:rPr lang="en-US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currently</a:t>
            </a:r>
            <a:r>
              <a:rPr lang="en-US" spc="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being</a:t>
            </a:r>
            <a:r>
              <a:rPr lang="en-US" spc="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processed</a:t>
            </a:r>
            <a:r>
              <a:rPr lang="en-US" spc="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by</a:t>
            </a:r>
            <a:r>
              <a:rPr lang="en-US" spc="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pc="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system</a:t>
            </a:r>
            <a:r>
              <a:rPr lang="en-US" spc="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(orange</a:t>
            </a:r>
            <a:r>
              <a:rPr lang="en-US" spc="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icon</a:t>
            </a:r>
            <a:r>
              <a:rPr lang="en-US" spc="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with</a:t>
            </a:r>
            <a:r>
              <a:rPr lang="en-US" spc="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document).</a:t>
            </a:r>
            <a:endParaRPr lang="en-US" spc="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742950" marR="0" lvl="1" indent="-285750">
              <a:spcBef>
                <a:spcPts val="80"/>
              </a:spcBef>
              <a:buSzPts val="900"/>
              <a:buFont typeface="Arial MT"/>
              <a:buChar char="-"/>
              <a:tabLst>
                <a:tab pos="141605" algn="l"/>
              </a:tabLst>
            </a:pP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Query</a:t>
            </a:r>
            <a:r>
              <a:rPr lang="en-US" b="1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Leads:</a:t>
            </a:r>
            <a:r>
              <a:rPr lang="en-US" b="1" spc="-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with</a:t>
            </a:r>
            <a:r>
              <a:rPr lang="en-US" spc="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pending</a:t>
            </a:r>
            <a:r>
              <a:rPr lang="en-US" spc="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queries</a:t>
            </a:r>
            <a:r>
              <a:rPr lang="en-US" spc="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or</a:t>
            </a:r>
            <a:r>
              <a:rPr lang="en-US" spc="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issues</a:t>
            </a:r>
            <a:r>
              <a:rPr lang="en-US" spc="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(light</a:t>
            </a:r>
            <a:r>
              <a:rPr lang="en-US" spc="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green</a:t>
            </a:r>
            <a:r>
              <a:rPr lang="en-US" spc="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icon).</a:t>
            </a:r>
            <a:endParaRPr lang="en-US" spc="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742950" marR="0" lvl="1" indent="-285750">
              <a:spcBef>
                <a:spcPts val="80"/>
              </a:spcBef>
              <a:buSzPts val="900"/>
              <a:buFont typeface="Arial MT"/>
              <a:buChar char="-"/>
              <a:tabLst>
                <a:tab pos="141605" algn="l"/>
              </a:tabLst>
            </a:pP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 in</a:t>
            </a:r>
            <a:r>
              <a:rPr lang="en-US" b="1" spc="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LOS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: Leads which are moving in LOS.</a:t>
            </a:r>
          </a:p>
          <a:p>
            <a:pPr marL="742950" marR="0" lvl="1" indent="-285750">
              <a:spcBef>
                <a:spcPts val="80"/>
              </a:spcBef>
              <a:buSzPts val="900"/>
              <a:buFont typeface="Arial MT"/>
              <a:buChar char="-"/>
              <a:tabLst>
                <a:tab pos="141605" algn="l"/>
              </a:tabLst>
            </a:pP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b="1" spc="-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Sanctioned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: Which are sanctions in LOS.</a:t>
            </a:r>
          </a:p>
          <a:p>
            <a:pPr marL="742950" marR="0" lvl="1" indent="-285750">
              <a:spcBef>
                <a:spcPts val="80"/>
              </a:spcBef>
              <a:buSzPts val="900"/>
              <a:buFont typeface="Arial MT"/>
              <a:buChar char="-"/>
              <a:tabLst>
                <a:tab pos="141605" algn="l"/>
              </a:tabLst>
            </a:pP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b="1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Disbursed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:</a:t>
            </a:r>
            <a:r>
              <a:rPr lang="en-US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for</a:t>
            </a:r>
            <a:r>
              <a:rPr lang="en-US" spc="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which</a:t>
            </a:r>
            <a:r>
              <a:rPr lang="en-US" spc="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funds</a:t>
            </a:r>
            <a:r>
              <a:rPr lang="en-US" spc="3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have</a:t>
            </a:r>
            <a:r>
              <a:rPr lang="en-US" spc="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been</a:t>
            </a:r>
            <a:r>
              <a:rPr lang="en-US" spc="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disbursed.</a:t>
            </a:r>
          </a:p>
          <a:p>
            <a:pPr marL="742950" marR="0" lvl="1" indent="-285750">
              <a:spcBef>
                <a:spcPts val="85"/>
              </a:spcBef>
              <a:buSzPts val="900"/>
              <a:buFont typeface="Arial MT"/>
              <a:buChar char="-"/>
              <a:tabLst>
                <a:tab pos="141605" algn="l"/>
              </a:tabLst>
            </a:pP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Total</a:t>
            </a:r>
            <a:r>
              <a:rPr lang="en-US" b="1" spc="-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:</a:t>
            </a:r>
            <a:r>
              <a:rPr lang="en-US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Total</a:t>
            </a:r>
            <a:r>
              <a:rPr lang="en-US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number</a:t>
            </a:r>
            <a:r>
              <a:rPr lang="en-US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of</a:t>
            </a:r>
            <a:r>
              <a:rPr lang="en-US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</a:t>
            </a:r>
            <a:r>
              <a:rPr lang="en-US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Sales Buddy app.</a:t>
            </a:r>
          </a:p>
          <a:p>
            <a:pPr marL="742950" marR="0" lvl="1" indent="-285750">
              <a:spcBef>
                <a:spcPts val="85"/>
              </a:spcBef>
              <a:buSzPts val="900"/>
              <a:buFont typeface="Arial MT"/>
              <a:buChar char="-"/>
              <a:tabLst>
                <a:tab pos="141605" algn="l"/>
              </a:tabLst>
            </a:pP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Influencer</a:t>
            </a:r>
            <a:r>
              <a:rPr lang="en-US" b="1" spc="-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:</a:t>
            </a:r>
            <a:r>
              <a:rPr lang="en-US" dirty="0"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Influencer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Leads</a:t>
            </a:r>
            <a:r>
              <a:rPr lang="en-US" spc="5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which is assigned by respected </a:t>
            </a: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BM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742950" marR="0" lvl="1" indent="-285750">
              <a:spcBef>
                <a:spcPts val="80"/>
              </a:spcBef>
              <a:buSzPts val="900"/>
              <a:buFont typeface="Arial MT"/>
              <a:buChar char="-"/>
              <a:tabLst>
                <a:tab pos="141605" algn="l"/>
              </a:tabLst>
            </a:pP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Unassigned</a:t>
            </a:r>
            <a:r>
              <a:rPr lang="en-US" b="1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Influencer</a:t>
            </a:r>
            <a:r>
              <a:rPr lang="en-US" b="1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:</a:t>
            </a:r>
            <a:r>
              <a:rPr lang="en-US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Influencer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Leads</a:t>
            </a:r>
            <a:r>
              <a:rPr lang="en-US" spc="5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not assigned yet.</a:t>
            </a:r>
            <a:endParaRPr lang="en-US" spc="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76485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0E884-D065-B9B6-C658-75EA7017C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E7D416-50F3-504A-27B6-033EFDC39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7320986" cy="634181"/>
          </a:xfrm>
        </p:spPr>
        <p:txBody>
          <a:bodyPr>
            <a:normAutofit/>
          </a:bodyPr>
          <a:lstStyle/>
          <a:p>
            <a:r>
              <a:rPr lang="en-US" sz="1800" b="1" dirty="0">
                <a:effectLst/>
                <a:latin typeface="Arial" panose="020B0604020202020204" pitchFamily="34" charset="0"/>
                <a:ea typeface="Arial Black" panose="020B0A04020102020204" pitchFamily="34" charset="0"/>
                <a:cs typeface="Arial" panose="020B0604020202020204" pitchFamily="34" charset="0"/>
              </a:rPr>
              <a:t>Adding</a:t>
            </a:r>
            <a:r>
              <a:rPr lang="en-US" sz="1800" b="1" spc="-35" dirty="0">
                <a:effectLst/>
                <a:latin typeface="Arial" panose="020B0604020202020204" pitchFamily="34" charset="0"/>
                <a:ea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effectLst/>
                <a:latin typeface="Arial" panose="020B0604020202020204" pitchFamily="34" charset="0"/>
                <a:ea typeface="Arial Black" panose="020B0A04020102020204" pitchFamily="34" charset="0"/>
                <a:cs typeface="Arial" panose="020B0604020202020204" pitchFamily="34" charset="0"/>
              </a:rPr>
              <a:t>New</a:t>
            </a:r>
            <a:r>
              <a:rPr lang="en-US" sz="1800" b="1" spc="-30" dirty="0">
                <a:effectLst/>
                <a:latin typeface="Arial" panose="020B0604020202020204" pitchFamily="34" charset="0"/>
                <a:ea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effectLst/>
                <a:latin typeface="Arial" panose="020B0604020202020204" pitchFamily="34" charset="0"/>
                <a:ea typeface="Arial Black" panose="020B0A04020102020204" pitchFamily="34" charset="0"/>
                <a:cs typeface="Arial" panose="020B0604020202020204" pitchFamily="34" charset="0"/>
              </a:rPr>
              <a:t>Leads.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B7681288-BBC4-56A2-56CA-4606D913125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50085" y="457199"/>
            <a:ext cx="2728527" cy="60742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BD879C-380D-689B-360C-1412BEFAB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366684"/>
            <a:ext cx="7252160" cy="4502304"/>
          </a:xfrm>
        </p:spPr>
        <p:txBody>
          <a:bodyPr>
            <a:normAutofit/>
          </a:bodyPr>
          <a:lstStyle/>
          <a:p>
            <a:pPr marL="76200" marR="74930" algn="just">
              <a:lnSpc>
                <a:spcPct val="110000"/>
              </a:lnSpc>
              <a:spcBef>
                <a:spcPts val="930"/>
              </a:spcBef>
              <a:buNone/>
            </a:pP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To add a lead, tap the blue + button at the bottom center of any screen. A Select menu will pop up. Choose</a:t>
            </a:r>
            <a:r>
              <a:rPr lang="en-US" sz="1400" spc="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</a:p>
          <a:p>
            <a:pPr marL="76200" marR="74930" algn="just">
              <a:lnSpc>
                <a:spcPct val="110000"/>
              </a:lnSpc>
              <a:spcBef>
                <a:spcPts val="930"/>
              </a:spcBef>
              <a:buNone/>
            </a:pP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Add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New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to create a standard customer lead. </a:t>
            </a:r>
            <a:endParaRPr lang="en-US" sz="1400" spc="10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361950" marR="74930" indent="-285750" algn="just">
              <a:lnSpc>
                <a:spcPct val="110000"/>
              </a:lnSpc>
              <a:spcBef>
                <a:spcPts val="930"/>
              </a:spcBef>
              <a:buFont typeface="Wingdings" panose="05000000000000000000" pitchFamily="2" charset="2"/>
              <a:buChar char="Ø"/>
            </a:pPr>
            <a:r>
              <a:rPr lang="en-US" sz="1400" b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Step 1: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On</a:t>
            </a:r>
            <a:r>
              <a:rPr lang="en-US" sz="1400" spc="1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1400" spc="1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Home</a:t>
            </a:r>
            <a:r>
              <a:rPr lang="en-US" sz="1400" spc="1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screen,</a:t>
            </a:r>
            <a:r>
              <a:rPr lang="en-US" sz="1400" spc="1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tap</a:t>
            </a:r>
            <a:r>
              <a:rPr lang="en-US" sz="1400" spc="1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1400" spc="1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+ (Add) button</a:t>
            </a:r>
            <a:r>
              <a:rPr lang="en-US" sz="1400" spc="1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.</a:t>
            </a:r>
            <a:endParaRPr lang="en-US" sz="1400" dirty="0"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361950" marR="74930" indent="-285750" algn="just">
              <a:lnSpc>
                <a:spcPct val="110000"/>
              </a:lnSpc>
              <a:spcBef>
                <a:spcPts val="930"/>
              </a:spcBef>
              <a:buFont typeface="Wingdings" panose="05000000000000000000" pitchFamily="2" charset="2"/>
              <a:buChar char="Ø"/>
            </a:pPr>
            <a:r>
              <a:rPr lang="en-US" sz="1400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Step</a:t>
            </a:r>
            <a:r>
              <a:rPr lang="en-US" sz="1400" b="1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2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: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</a:t>
            </a:r>
            <a:r>
              <a:rPr lang="en-US" sz="1400" spc="4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1400" spc="4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Select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menu</a:t>
            </a:r>
            <a:r>
              <a:rPr lang="en-US" sz="1400" spc="4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that</a:t>
            </a:r>
            <a:r>
              <a:rPr lang="en-US" sz="1400" spc="4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appears,</a:t>
            </a:r>
            <a:r>
              <a:rPr lang="en-US" sz="1400" spc="4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tap</a:t>
            </a:r>
            <a:r>
              <a:rPr lang="en-US" sz="1400" spc="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Add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New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(person</a:t>
            </a:r>
            <a:r>
              <a:rPr lang="en-US" sz="1400" spc="4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icon)</a:t>
            </a:r>
            <a:r>
              <a:rPr lang="en-US" sz="1400" spc="4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to</a:t>
            </a:r>
            <a:r>
              <a:rPr lang="en-US" sz="1400" spc="4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proceed</a:t>
            </a:r>
            <a:r>
              <a:rPr lang="en-US" sz="1400" spc="4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with</a:t>
            </a:r>
            <a:r>
              <a:rPr lang="en-US" sz="1400" spc="4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</a:t>
            </a:r>
            <a:r>
              <a:rPr lang="en-US" sz="1400" spc="4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new</a:t>
            </a:r>
            <a:r>
              <a:rPr lang="en-US" sz="1400" spc="4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.</a:t>
            </a:r>
            <a:endParaRPr lang="en-US" sz="1400" dirty="0"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361950" marR="0" indent="-285750">
              <a:spcBef>
                <a:spcPts val="80"/>
              </a:spcBef>
              <a:buFont typeface="Wingdings" panose="05000000000000000000" pitchFamily="2" charset="2"/>
              <a:buChar char="Ø"/>
            </a:pPr>
            <a:r>
              <a:rPr lang="en-US" sz="1400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Step 3: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1400" spc="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app</a:t>
            </a:r>
            <a:r>
              <a:rPr lang="en-US" sz="1400" spc="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will</a:t>
            </a:r>
            <a:r>
              <a:rPr lang="en-US" sz="1400" spc="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navigate</a:t>
            </a:r>
            <a:r>
              <a:rPr lang="en-US" sz="1400" spc="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to</a:t>
            </a:r>
            <a:r>
              <a:rPr lang="en-US" sz="1400" spc="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1400" spc="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Visit</a:t>
            </a:r>
            <a:r>
              <a:rPr lang="en-US" sz="1400" spc="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Detail</a:t>
            </a:r>
            <a:r>
              <a:rPr lang="en-US" sz="1400" spc="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form</a:t>
            </a:r>
            <a:r>
              <a:rPr lang="en-US" sz="1400" spc="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to</a:t>
            </a:r>
            <a:r>
              <a:rPr lang="en-US" sz="1400" spc="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begin</a:t>
            </a:r>
            <a:r>
              <a:rPr lang="en-US" sz="1400" spc="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capturing</a:t>
            </a:r>
            <a:r>
              <a:rPr lang="en-US" sz="1400" spc="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information</a:t>
            </a:r>
            <a:r>
              <a:rPr lang="en-US" sz="1400" spc="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about</a:t>
            </a:r>
            <a:r>
              <a:rPr lang="en-US" sz="1400" spc="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your</a:t>
            </a:r>
            <a:r>
              <a:rPr lang="en-US" sz="1400" spc="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visit</a:t>
            </a:r>
            <a:r>
              <a:rPr lang="en-US" sz="1400" spc="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and the</a:t>
            </a:r>
            <a:r>
              <a:rPr lang="en-US" sz="1400" spc="-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66800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40B18-9752-A7B0-25A2-083591824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4956D8-032A-5856-DA8F-A083E1C9F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7320986" cy="634181"/>
          </a:xfrm>
        </p:spPr>
        <p:txBody>
          <a:bodyPr>
            <a:normAutofit/>
          </a:bodyPr>
          <a:lstStyle/>
          <a:p>
            <a:r>
              <a:rPr lang="en-US" sz="1800" b="1" dirty="0">
                <a:effectLst/>
                <a:latin typeface="Arial" panose="020B0604020202020204" pitchFamily="34" charset="0"/>
                <a:ea typeface="Arial MT"/>
              </a:rPr>
              <a:t>Completing</a:t>
            </a:r>
            <a:r>
              <a:rPr lang="en-US" sz="1800" b="1" spc="-20" dirty="0">
                <a:effectLst/>
                <a:latin typeface="Arial" panose="020B0604020202020204" pitchFamily="34" charset="0"/>
                <a:ea typeface="Arial MT"/>
              </a:rPr>
              <a:t> </a:t>
            </a:r>
            <a:r>
              <a:rPr lang="en-US" sz="1800" b="1" dirty="0">
                <a:effectLst/>
                <a:latin typeface="Arial" panose="020B0604020202020204" pitchFamily="34" charset="0"/>
                <a:ea typeface="Arial MT"/>
              </a:rPr>
              <a:t>the</a:t>
            </a:r>
            <a:r>
              <a:rPr lang="en-US" sz="1800" b="1" spc="-15" dirty="0">
                <a:effectLst/>
                <a:latin typeface="Arial" panose="020B0604020202020204" pitchFamily="34" charset="0"/>
                <a:ea typeface="Arial MT"/>
              </a:rPr>
              <a:t> </a:t>
            </a:r>
            <a:r>
              <a:rPr lang="en-US" sz="1800" b="1" dirty="0">
                <a:effectLst/>
                <a:latin typeface="Arial" panose="020B0604020202020204" pitchFamily="34" charset="0"/>
                <a:ea typeface="Arial MT"/>
              </a:rPr>
              <a:t>Visit</a:t>
            </a:r>
            <a:r>
              <a:rPr lang="en-US" sz="1800" b="1" spc="-15" dirty="0">
                <a:effectLst/>
                <a:latin typeface="Arial" panose="020B0604020202020204" pitchFamily="34" charset="0"/>
                <a:ea typeface="Arial MT"/>
              </a:rPr>
              <a:t> </a:t>
            </a:r>
            <a:r>
              <a:rPr lang="en-US" sz="1800" b="1" dirty="0">
                <a:effectLst/>
                <a:latin typeface="Arial" panose="020B0604020202020204" pitchFamily="34" charset="0"/>
                <a:ea typeface="Arial MT"/>
              </a:rPr>
              <a:t>Detail</a:t>
            </a:r>
            <a:r>
              <a:rPr lang="en-US" sz="1800" b="1" spc="-15" dirty="0">
                <a:effectLst/>
                <a:latin typeface="Arial" panose="020B0604020202020204" pitchFamily="34" charset="0"/>
                <a:ea typeface="Arial MT"/>
              </a:rPr>
              <a:t> </a:t>
            </a:r>
            <a:r>
              <a:rPr lang="en-US" sz="1800" b="1" spc="-20" dirty="0">
                <a:effectLst/>
                <a:latin typeface="Arial" panose="020B0604020202020204" pitchFamily="34" charset="0"/>
                <a:ea typeface="Arial MT"/>
              </a:rPr>
              <a:t>Form.</a:t>
            </a:r>
            <a:endParaRPr lang="en-US" b="1" dirty="0"/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BF565AAE-D238-DDBE-5E87-A78F044E5BD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50085" y="457199"/>
            <a:ext cx="2728527" cy="60742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E88CA8-7B53-6BB2-E194-6E651C96C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366684"/>
            <a:ext cx="7252160" cy="4502304"/>
          </a:xfrm>
        </p:spPr>
        <p:txBody>
          <a:bodyPr/>
          <a:lstStyle/>
          <a:p>
            <a:pPr marL="76200" marR="75565" algn="just">
              <a:lnSpc>
                <a:spcPct val="111000"/>
              </a:lnSpc>
              <a:spcBef>
                <a:spcPts val="930"/>
              </a:spcBef>
              <a:buNone/>
            </a:pP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After</a:t>
            </a:r>
            <a:r>
              <a:rPr lang="en-US" sz="1400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b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selecting</a:t>
            </a:r>
            <a:r>
              <a:rPr lang="en-US" sz="1400" b="1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b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Add</a:t>
            </a:r>
            <a:r>
              <a:rPr lang="en-US" sz="1400" b="1" spc="-8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New</a:t>
            </a:r>
            <a:r>
              <a:rPr lang="en-US" sz="1400" spc="-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Lead,</a:t>
            </a:r>
            <a:r>
              <a:rPr lang="en-US" sz="1400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you</a:t>
            </a:r>
            <a:r>
              <a:rPr lang="en-US" sz="1400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land</a:t>
            </a:r>
            <a:r>
              <a:rPr lang="en-US" sz="1400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on</a:t>
            </a:r>
            <a:r>
              <a:rPr lang="en-US" sz="1400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1400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Visit</a:t>
            </a:r>
            <a:r>
              <a:rPr lang="en-US" sz="1400" spc="-8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Detail</a:t>
            </a:r>
            <a:r>
              <a:rPr lang="en-US" sz="1400" spc="-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screen.</a:t>
            </a:r>
            <a:r>
              <a:rPr lang="en-US" sz="1400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Complete</a:t>
            </a:r>
            <a:r>
              <a:rPr lang="en-US" sz="1400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1400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form</a:t>
            </a:r>
            <a:r>
              <a:rPr lang="en-US" sz="1400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as</a:t>
            </a:r>
            <a:r>
              <a:rPr lang="en-US" sz="1400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follows:</a:t>
            </a:r>
            <a:r>
              <a:rPr lang="en-US" sz="1400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-</a:t>
            </a:r>
            <a:r>
              <a:rPr lang="en-US" sz="1400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Entity Image:</a:t>
            </a:r>
            <a:r>
              <a:rPr lang="en-US" sz="1400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Tap the camera icon or image placeholder to take or upload a photo of the place or person visited. This serves as visual verification of the visit.</a:t>
            </a:r>
          </a:p>
          <a:p>
            <a:pPr marL="742950" marR="75565" lvl="1" indent="-285750" algn="just">
              <a:lnSpc>
                <a:spcPct val="117000"/>
              </a:lnSpc>
              <a:spcBef>
                <a:spcPts val="50"/>
              </a:spcBef>
              <a:buSzPts val="900"/>
              <a:buFont typeface="Arial MT"/>
              <a:buChar char="-"/>
              <a:tabLst>
                <a:tab pos="155575" algn="l"/>
              </a:tabLst>
            </a:pP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Beats: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Tap the dropdown to select your sales area or route (for example, "test" in the screenshot). This categorizes where the visit took place.</a:t>
            </a:r>
          </a:p>
          <a:p>
            <a:pPr marL="742950" marR="74930" lvl="1" indent="-285750" algn="just">
              <a:lnSpc>
                <a:spcPct val="117000"/>
              </a:lnSpc>
              <a:buSzPts val="900"/>
              <a:buFont typeface="Arial MT"/>
              <a:buChar char="-"/>
              <a:tabLst>
                <a:tab pos="151765" algn="l"/>
              </a:tabLst>
            </a:pP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Purpose</a:t>
            </a:r>
            <a:r>
              <a:rPr lang="en-US" b="1" spc="-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of</a:t>
            </a:r>
            <a:r>
              <a:rPr lang="en-US" b="1" spc="-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Visit:</a:t>
            </a:r>
            <a:r>
              <a:rPr lang="en-US" b="1" spc="-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Tap</a:t>
            </a:r>
            <a:r>
              <a:rPr lang="en-US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dropdown</a:t>
            </a:r>
            <a:r>
              <a:rPr lang="en-US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to</a:t>
            </a:r>
            <a:r>
              <a:rPr lang="en-US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select</a:t>
            </a:r>
            <a:r>
              <a:rPr lang="en-US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why</a:t>
            </a:r>
            <a:r>
              <a:rPr lang="en-US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you</a:t>
            </a:r>
            <a:r>
              <a:rPr lang="en-US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are</a:t>
            </a:r>
            <a:r>
              <a:rPr lang="en-US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visiting</a:t>
            </a:r>
            <a:r>
              <a:rPr lang="en-US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(e.g.</a:t>
            </a:r>
            <a:r>
              <a:rPr lang="en-US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i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New</a:t>
            </a:r>
            <a:r>
              <a:rPr lang="en-US" i="1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i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,</a:t>
            </a:r>
            <a:r>
              <a:rPr lang="en-US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i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Follow</a:t>
            </a:r>
            <a:r>
              <a:rPr lang="en-US" i="1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i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Up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,</a:t>
            </a:r>
            <a:r>
              <a:rPr lang="en-US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etc.).</a:t>
            </a:r>
            <a:r>
              <a:rPr lang="en-US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</a:t>
            </a:r>
            <a:r>
              <a:rPr lang="en-US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this example, "new lead" is selected.</a:t>
            </a:r>
          </a:p>
          <a:p>
            <a:pPr marL="742950" marR="74930" lvl="1" indent="-285750" algn="just">
              <a:lnSpc>
                <a:spcPct val="111000"/>
              </a:lnSpc>
              <a:buSzPts val="900"/>
              <a:buFont typeface="Arial MT"/>
              <a:buChar char="-"/>
              <a:tabLst>
                <a:tab pos="155575" algn="l"/>
              </a:tabLst>
            </a:pP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Submit: When all fields are filled, tap the Submit button at the bottom. This saves the visit details and advances</a:t>
            </a:r>
            <a:r>
              <a:rPr lang="en-US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you</a:t>
            </a:r>
            <a:r>
              <a:rPr lang="en-US" spc="-5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to</a:t>
            </a:r>
            <a:r>
              <a:rPr lang="en-US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</a:t>
            </a:r>
            <a:r>
              <a:rPr lang="en-US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entry</a:t>
            </a:r>
            <a:r>
              <a:rPr lang="en-US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process.</a:t>
            </a:r>
            <a:r>
              <a:rPr lang="en-US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</a:p>
          <a:p>
            <a:pPr marR="74930" lvl="1" algn="just">
              <a:lnSpc>
                <a:spcPct val="111000"/>
              </a:lnSpc>
              <a:buSzPts val="900"/>
              <a:tabLst>
                <a:tab pos="155575" algn="l"/>
              </a:tabLst>
            </a:pPr>
            <a:endParaRPr lang="en-US" spc="-45" dirty="0"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742950" marR="74930" lvl="1" indent="-285750">
              <a:lnSpc>
                <a:spcPct val="111000"/>
              </a:lnSpc>
              <a:buSzPts val="900"/>
              <a:buFont typeface="Wingdings" panose="05000000000000000000" pitchFamily="2" charset="2"/>
              <a:buChar char="Ø"/>
              <a:tabLst>
                <a:tab pos="155575" algn="l"/>
              </a:tabLst>
            </a:pP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Capture</a:t>
            </a:r>
            <a:r>
              <a:rPr lang="en-US" b="1" spc="-8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Photo:</a:t>
            </a:r>
            <a:r>
              <a:rPr lang="en-US" b="1" spc="-8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Ensure</a:t>
            </a:r>
            <a:r>
              <a:rPr lang="en-US" spc="-4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photo</a:t>
            </a:r>
            <a:r>
              <a:rPr lang="en-US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clearly</a:t>
            </a:r>
            <a:r>
              <a:rPr lang="en-US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shows</a:t>
            </a:r>
            <a:r>
              <a:rPr lang="en-US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visit</a:t>
            </a:r>
            <a:r>
              <a:rPr lang="en-US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entity</a:t>
            </a:r>
            <a:r>
              <a:rPr lang="en-US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or yourself. Confirm and save the image. </a:t>
            </a:r>
          </a:p>
          <a:p>
            <a:pPr marL="742950" marR="74930" lvl="1" indent="-285750">
              <a:lnSpc>
                <a:spcPct val="111000"/>
              </a:lnSpc>
              <a:buSzPts val="900"/>
              <a:buFont typeface="Wingdings" panose="05000000000000000000" pitchFamily="2" charset="2"/>
              <a:buChar char="Ø"/>
              <a:tabLst>
                <a:tab pos="155575" algn="l"/>
              </a:tabLst>
            </a:pPr>
            <a:r>
              <a:rPr lang="en-US" sz="1400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Select</a:t>
            </a:r>
            <a:r>
              <a:rPr lang="en-US" sz="1400" b="1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Beat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:</a:t>
            </a:r>
            <a:r>
              <a:rPr lang="en-US" sz="1400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Choose</a:t>
            </a:r>
            <a:r>
              <a:rPr lang="en-US" sz="1400" spc="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1400" spc="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appropriate</a:t>
            </a:r>
            <a:r>
              <a:rPr lang="en-US" sz="1400" spc="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sales</a:t>
            </a:r>
            <a:r>
              <a:rPr lang="en-US" sz="1400" spc="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beat</a:t>
            </a:r>
            <a:r>
              <a:rPr lang="en-US" sz="1400" spc="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or</a:t>
            </a:r>
            <a:r>
              <a:rPr lang="en-US" sz="1400" spc="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region</a:t>
            </a:r>
            <a:r>
              <a:rPr lang="en-US" sz="1400" spc="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for</a:t>
            </a:r>
            <a:r>
              <a:rPr lang="en-US" sz="1400" spc="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this</a:t>
            </a:r>
            <a:r>
              <a:rPr lang="en-US" sz="1400" spc="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visit.</a:t>
            </a:r>
            <a:r>
              <a:rPr lang="en-US" dirty="0"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Choose</a:t>
            </a:r>
            <a:r>
              <a:rPr lang="en-US" sz="1400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Purpose:</a:t>
            </a:r>
            <a:r>
              <a:rPr lang="en-US" sz="1400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Indicate</a:t>
            </a:r>
            <a:r>
              <a:rPr lang="en-US" sz="1400" spc="3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1400" spc="3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reason</a:t>
            </a:r>
            <a:r>
              <a:rPr lang="en-US" sz="1400" spc="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for</a:t>
            </a:r>
            <a:r>
              <a:rPr lang="en-US" sz="1400" spc="3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1400" spc="3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visit</a:t>
            </a:r>
            <a:r>
              <a:rPr lang="en-US" sz="1400" spc="3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from</a:t>
            </a:r>
            <a:r>
              <a:rPr lang="en-US" sz="1400" spc="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1400" spc="3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list.</a:t>
            </a:r>
            <a:r>
              <a:rPr lang="en-US" sz="1400" dirty="0"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</a:p>
          <a:p>
            <a:pPr marL="742950" marR="74930" lvl="1" indent="-285750">
              <a:lnSpc>
                <a:spcPct val="111000"/>
              </a:lnSpc>
              <a:buSzPts val="900"/>
              <a:buFont typeface="Wingdings" panose="05000000000000000000" pitchFamily="2" charset="2"/>
              <a:buChar char="Ø"/>
              <a:tabLst>
                <a:tab pos="155575" algn="l"/>
              </a:tabLst>
            </a:pPr>
            <a:r>
              <a:rPr lang="en-US" sz="1400" b="1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Submit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:</a:t>
            </a:r>
            <a:r>
              <a:rPr lang="en-US" sz="1400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Tap</a:t>
            </a:r>
            <a:r>
              <a:rPr lang="en-US" sz="1400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Submit</a:t>
            </a:r>
            <a:r>
              <a:rPr lang="en-US" sz="1400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to</a:t>
            </a:r>
            <a:r>
              <a:rPr lang="en-US" sz="1400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confirm.</a:t>
            </a:r>
            <a:r>
              <a:rPr lang="en-US" sz="1400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1400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app</a:t>
            </a:r>
            <a:r>
              <a:rPr lang="en-US" sz="1400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will</a:t>
            </a:r>
            <a:r>
              <a:rPr lang="en-US" sz="1400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validate</a:t>
            </a:r>
            <a:r>
              <a:rPr lang="en-US" sz="1400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entries</a:t>
            </a:r>
            <a:r>
              <a:rPr lang="en-US" sz="1400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and</a:t>
            </a:r>
            <a:r>
              <a:rPr lang="en-US" sz="1400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proceed</a:t>
            </a:r>
            <a:r>
              <a:rPr lang="en-US" sz="1400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to</a:t>
            </a:r>
            <a:r>
              <a:rPr lang="en-US" sz="1400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1400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next</a:t>
            </a:r>
            <a:r>
              <a:rPr lang="en-US" sz="1400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screen.</a:t>
            </a:r>
            <a:endParaRPr lang="en-US" sz="1400" spc="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86235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867AC-C2F9-3D55-5F1D-71E53993D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EB9580-9EF9-7E02-0DB5-ED0B9BCEA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34298"/>
            <a:ext cx="7320986" cy="570270"/>
          </a:xfrm>
        </p:spPr>
        <p:txBody>
          <a:bodyPr>
            <a:normAutofit/>
          </a:bodyPr>
          <a:lstStyle/>
          <a:p>
            <a:r>
              <a:rPr lang="en-US" sz="1800" b="1" dirty="0">
                <a:effectLst/>
                <a:latin typeface="Arial" panose="020B06040202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Submitting</a:t>
            </a:r>
            <a:r>
              <a:rPr lang="en-US" sz="1800" b="1" spc="10" dirty="0">
                <a:effectLst/>
                <a:latin typeface="Arial" panose="020B06040202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en-US" sz="1800" b="1" dirty="0">
                <a:effectLst/>
                <a:latin typeface="Arial" panose="020B06040202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a</a:t>
            </a:r>
            <a:r>
              <a:rPr lang="en-US" sz="1800" b="1" spc="10" dirty="0">
                <a:effectLst/>
                <a:latin typeface="Arial" panose="020B06040202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en-US" sz="1800" b="1" dirty="0">
                <a:effectLst/>
                <a:latin typeface="Arial" panose="020B06040202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New</a:t>
            </a:r>
            <a:r>
              <a:rPr lang="en-US" sz="1800" b="1" spc="10" dirty="0">
                <a:effectLst/>
                <a:latin typeface="Arial" panose="020B06040202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en-US" sz="1800" b="1" spc="-20" dirty="0">
                <a:effectLst/>
                <a:latin typeface="Arial" panose="020B06040202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Lead</a:t>
            </a:r>
            <a:endParaRPr lang="en-US" dirty="0"/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43050A82-F2F7-4E24-076F-CDEF1091B97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79582" y="476864"/>
            <a:ext cx="2728527" cy="60742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37D7A4-9804-5F72-0D43-799E8FC15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04569"/>
            <a:ext cx="7252160" cy="5496232"/>
          </a:xfrm>
        </p:spPr>
        <p:txBody>
          <a:bodyPr>
            <a:noAutofit/>
          </a:bodyPr>
          <a:lstStyle/>
          <a:p>
            <a:pPr marL="76200" marR="74930" algn="just">
              <a:lnSpc>
                <a:spcPct val="116000"/>
              </a:lnSpc>
              <a:spcBef>
                <a:spcPts val="930"/>
              </a:spcBef>
              <a:buNone/>
            </a:pP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You will now see the Submit</a:t>
            </a:r>
            <a:r>
              <a:rPr lang="en-US" sz="1400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New</a:t>
            </a:r>
            <a:r>
              <a:rPr lang="en-US" sz="1400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</a:t>
            </a:r>
            <a:r>
              <a:rPr lang="en-US" sz="1400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screen with multiple Sections</a:t>
            </a:r>
            <a:r>
              <a:rPr lang="en-US" sz="1400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to complete. Tap each section in order and fill in the required details. The app shows a progress icon next to incomplete sections (</a:t>
            </a:r>
            <a:r>
              <a:rPr lang="en-US" sz="1400" b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yellow/ orange circle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). Complete all sections fully before final submission: - Applicant Details: Enter the lead’s personal information (name, contact number, address, etc.).</a:t>
            </a:r>
          </a:p>
          <a:p>
            <a:pPr marL="742950" marR="75565" lvl="1" indent="-285750" algn="just">
              <a:lnSpc>
                <a:spcPct val="117000"/>
              </a:lnSpc>
              <a:spcBef>
                <a:spcPts val="10"/>
              </a:spcBef>
              <a:buSzPts val="900"/>
              <a:buFont typeface="Wingdings" panose="05000000000000000000" pitchFamily="2" charset="2"/>
              <a:buChar char="Ø"/>
              <a:tabLst>
                <a:tab pos="158750" algn="l"/>
              </a:tabLst>
            </a:pP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Co-Borrower Information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: If applicable, enter information for a co-applicant or spouse. If none, leave blank or indicate </a:t>
            </a:r>
            <a:r>
              <a:rPr lang="en-US" i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None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.</a:t>
            </a:r>
          </a:p>
          <a:p>
            <a:pPr marL="742950" marR="76200" lvl="1" indent="-285750" algn="just">
              <a:lnSpc>
                <a:spcPct val="117000"/>
              </a:lnSpc>
              <a:buSzPts val="900"/>
              <a:buFont typeface="Wingdings" panose="05000000000000000000" pitchFamily="2" charset="2"/>
              <a:buChar char="Ø"/>
              <a:tabLst>
                <a:tab pos="167005" algn="l"/>
              </a:tabLst>
            </a:pP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Applicant KYC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: Upload or capture identity documents (such as ID proof, address proof) as required. Ensure the images are clear and legible.</a:t>
            </a:r>
          </a:p>
          <a:p>
            <a:pPr marL="742950" marR="0" lvl="1" indent="-285750" algn="just">
              <a:lnSpc>
                <a:spcPts val="1250"/>
              </a:lnSpc>
              <a:buSzPts val="900"/>
              <a:buFont typeface="Wingdings" panose="05000000000000000000" pitchFamily="2" charset="2"/>
              <a:buChar char="Ø"/>
              <a:tabLst>
                <a:tab pos="141605" algn="l"/>
              </a:tabLst>
            </a:pP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Loan</a:t>
            </a:r>
            <a:r>
              <a:rPr lang="en-US" b="1" spc="-8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Detail:</a:t>
            </a:r>
            <a:r>
              <a:rPr lang="en-US" b="1" spc="-8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Specify</a:t>
            </a:r>
            <a:r>
              <a:rPr lang="en-US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loan</a:t>
            </a:r>
            <a:r>
              <a:rPr lang="en-US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requirements,</a:t>
            </a:r>
            <a:r>
              <a:rPr lang="en-US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including</a:t>
            </a:r>
            <a:r>
              <a:rPr lang="en-US" spc="-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type</a:t>
            </a:r>
            <a:r>
              <a:rPr lang="en-US" spc="-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(home,</a:t>
            </a:r>
            <a:r>
              <a:rPr lang="en-US" spc="-5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auto,</a:t>
            </a:r>
            <a:r>
              <a:rPr lang="en-US" spc="-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etc.),</a:t>
            </a:r>
            <a:r>
              <a:rPr lang="en-US" spc="-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desired</a:t>
            </a:r>
            <a:r>
              <a:rPr lang="en-US" spc="-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amount,</a:t>
            </a:r>
            <a:r>
              <a:rPr lang="en-US" spc="-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and</a:t>
            </a:r>
            <a:r>
              <a:rPr lang="en-US" spc="-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tenure.</a:t>
            </a:r>
            <a:endParaRPr lang="en-US" spc="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742950" marR="75565" lvl="1" indent="-285750" algn="just">
              <a:lnSpc>
                <a:spcPct val="117000"/>
              </a:lnSpc>
              <a:spcBef>
                <a:spcPts val="50"/>
              </a:spcBef>
              <a:buSzPts val="900"/>
              <a:buFont typeface="Wingdings" panose="05000000000000000000" pitchFamily="2" charset="2"/>
              <a:buChar char="Ø"/>
              <a:tabLst>
                <a:tab pos="153670" algn="l"/>
              </a:tabLst>
            </a:pP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Collateral</a:t>
            </a:r>
            <a:r>
              <a:rPr lang="en-US" b="1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Detail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:</a:t>
            </a:r>
            <a:r>
              <a:rPr lang="en-US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Provide details of any collateral or security offered by the applicant (property, vehicle,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etc.).</a:t>
            </a:r>
            <a:endParaRPr lang="en-US" spc="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742950" marR="0" lvl="1" indent="-285750" algn="just">
              <a:lnSpc>
                <a:spcPts val="1250"/>
              </a:lnSpc>
              <a:buSzPts val="900"/>
              <a:buFont typeface="Wingdings" panose="05000000000000000000" pitchFamily="2" charset="2"/>
              <a:buChar char="Ø"/>
              <a:tabLst>
                <a:tab pos="141605" algn="l"/>
              </a:tabLst>
            </a:pP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CRIF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:</a:t>
            </a:r>
            <a:r>
              <a:rPr lang="en-US" spc="-8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R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etrieve</a:t>
            </a:r>
            <a:r>
              <a:rPr lang="en-US" spc="-4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applicant’s</a:t>
            </a:r>
            <a:r>
              <a:rPr lang="en-US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credit</a:t>
            </a:r>
            <a:r>
              <a:rPr lang="en-US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report</a:t>
            </a:r>
            <a:r>
              <a:rPr lang="en-US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or</a:t>
            </a:r>
            <a:r>
              <a:rPr lang="en-US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score</a:t>
            </a:r>
            <a:r>
              <a:rPr lang="en-US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(often</a:t>
            </a:r>
            <a:r>
              <a:rPr lang="en-US" spc="-4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</a:t>
            </a:r>
            <a:r>
              <a:rPr lang="en-US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PDF</a:t>
            </a:r>
            <a:r>
              <a:rPr lang="en-US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or</a:t>
            </a:r>
            <a:r>
              <a:rPr lang="en-US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system-fetched</a:t>
            </a:r>
            <a:r>
              <a:rPr lang="en-US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data).</a:t>
            </a:r>
            <a:endParaRPr lang="en-US" spc="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0" marR="0">
              <a:spcBef>
                <a:spcPts val="545"/>
              </a:spcBef>
              <a:buNone/>
            </a:pPr>
            <a:r>
              <a:rPr lang="en-US" sz="1400" i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Once you have filled all sections ,tap Submit</a:t>
            </a:r>
            <a:r>
              <a:rPr lang="en-US" sz="1400" i="1" spc="-4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at the top</a:t>
            </a:r>
            <a:r>
              <a:rPr lang="en-US" sz="1400" i="1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or</a:t>
            </a:r>
            <a:r>
              <a:rPr lang="en-US" sz="1400" i="1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bottom</a:t>
            </a:r>
            <a:r>
              <a:rPr lang="en-US" sz="1400" i="1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of</a:t>
            </a:r>
            <a:r>
              <a:rPr lang="en-US" sz="1400" i="1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1400" i="1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screen</a:t>
            </a:r>
            <a:r>
              <a:rPr lang="en-US" sz="1400" i="1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to</a:t>
            </a:r>
            <a:r>
              <a:rPr lang="en-US" sz="1400" i="1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send</a:t>
            </a:r>
            <a:r>
              <a:rPr lang="en-US" sz="1400" i="1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1400" i="1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new</a:t>
            </a:r>
            <a:r>
              <a:rPr lang="en-US" sz="1400" i="1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</a:t>
            </a:r>
            <a:r>
              <a:rPr lang="en-US" sz="1400" i="1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for</a:t>
            </a:r>
            <a:r>
              <a:rPr lang="en-US" sz="1400" i="1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processing.</a:t>
            </a:r>
            <a:r>
              <a:rPr lang="en-US" sz="1400" i="1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-</a:t>
            </a:r>
            <a:r>
              <a:rPr lang="en-US" sz="1400" i="1" spc="-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Step-by-Step:</a:t>
            </a:r>
            <a:r>
              <a:rPr lang="en-US" sz="1400" i="1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For</a:t>
            </a:r>
            <a:r>
              <a:rPr lang="en-US" sz="1400" i="1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each</a:t>
            </a:r>
            <a:r>
              <a:rPr lang="en-US" sz="1400" i="1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section,</a:t>
            </a:r>
            <a:r>
              <a:rPr lang="en-US" sz="1400" i="1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enter</a:t>
            </a:r>
            <a:r>
              <a:rPr lang="en-US" sz="1400" i="1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all mandatory fields. You can tap Next</a:t>
            </a:r>
            <a:r>
              <a:rPr lang="en-US" sz="1400" i="1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or the section name to navigate. Review your entries for accuracy.</a:t>
            </a:r>
          </a:p>
          <a:p>
            <a:pPr marL="742950" marR="74930" lvl="1" indent="-285750" algn="just">
              <a:lnSpc>
                <a:spcPct val="123000"/>
              </a:lnSpc>
              <a:spcBef>
                <a:spcPts val="15"/>
              </a:spcBef>
              <a:buSzPts val="900"/>
              <a:buFont typeface="Arial MT"/>
              <a:buChar char="-"/>
              <a:tabLst>
                <a:tab pos="151130" algn="l"/>
              </a:tabLst>
            </a:pP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Final Submission: After completing CRIF and ensuring all sections are complete, use the Submit action. You should see a confirmation message (e.g., “Lead submitted successfully”). </a:t>
            </a:r>
            <a:r>
              <a:rPr lang="en-US" b="1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If any required information is missing, the app will highlight the specific fields or prompt an error.</a:t>
            </a:r>
          </a:p>
          <a:p>
            <a:pPr marL="742950" marR="74930" lvl="1" indent="-285750" algn="just">
              <a:lnSpc>
                <a:spcPct val="123000"/>
              </a:lnSpc>
              <a:spcBef>
                <a:spcPts val="15"/>
              </a:spcBef>
              <a:buSzPts val="900"/>
              <a:buFont typeface="Arial MT"/>
              <a:buChar char="-"/>
              <a:tabLst>
                <a:tab pos="151130" algn="l"/>
              </a:tabLst>
            </a:pPr>
            <a:endParaRPr lang="en-US" spc="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62006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BBCCF-F596-17CD-C9D3-12536D456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3BB97-63E5-1A56-004E-D74D3EF79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119" y="2318449"/>
            <a:ext cx="7059761" cy="1325563"/>
          </a:xfrm>
        </p:spPr>
        <p:txBody>
          <a:bodyPr>
            <a:normAutofit/>
          </a:bodyPr>
          <a:lstStyle/>
          <a:p>
            <a:r>
              <a:rPr lang="en-US" sz="44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Influencer App Flow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600436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06268-BF42-D195-7733-0E77AE470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3BEC03-1310-DA0C-9514-35448875C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47484"/>
            <a:ext cx="7320986" cy="560439"/>
          </a:xfrm>
        </p:spPr>
        <p:txBody>
          <a:bodyPr>
            <a:normAutofit/>
          </a:bodyPr>
          <a:lstStyle/>
          <a:p>
            <a:r>
              <a:rPr lang="en-US" sz="20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Influencer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Onboard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22B8F144-82BA-5172-04A6-CF76900227F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69626" y="334298"/>
            <a:ext cx="5574889" cy="60665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DB152D-7EA2-B60E-372D-D038558B5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7588" y="707922"/>
            <a:ext cx="5574889" cy="5909187"/>
          </a:xfrm>
        </p:spPr>
        <p:txBody>
          <a:bodyPr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Scope: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This SOP covers only the "Add Influencer" feature of the mobile application.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Steps Of Onboard of Influencer :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1. Log into the mobile application.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2. From the dashboard, tap on the "Add Influencer" button.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3. Fill in the required personal information fields including: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- First Name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- Last Name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- Phone Number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- Email ID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- Date of Birth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- Password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- Branch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4. Enter KYC information: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- PAN Number, Aadhaar Number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5. Optionally enter bank information if required.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6. Tick the checkbox to agree to the Terms and Conditions.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7. Tap the "Register" button to complete the process.</a:t>
            </a:r>
          </a:p>
        </p:txBody>
      </p:sp>
    </p:spTree>
    <p:extLst>
      <p:ext uri="{BB962C8B-B14F-4D97-AF65-F5344CB8AC3E}">
        <p14:creationId xmlns:p14="http://schemas.microsoft.com/office/powerpoint/2010/main" val="30669971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A4C7C-D168-D297-95EC-B2C98FC24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22439"/>
          </a:xfrm>
        </p:spPr>
        <p:txBody>
          <a:bodyPr/>
          <a:lstStyle/>
          <a:p>
            <a:r>
              <a:rPr lang="en-US" sz="1800" b="1" dirty="0">
                <a:effectLst/>
                <a:latin typeface="Arial" panose="020B06040202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Dashboard</a:t>
            </a:r>
            <a:r>
              <a:rPr lang="en-US" sz="1800" b="1" spc="25" dirty="0">
                <a:effectLst/>
                <a:latin typeface="Arial" panose="020B06040202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en-US" sz="1800" b="1" dirty="0">
                <a:effectLst/>
                <a:latin typeface="Arial" panose="020B06040202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Metrics</a:t>
            </a:r>
            <a:r>
              <a:rPr lang="en-US" sz="1800" b="1" spc="30" dirty="0">
                <a:effectLst/>
                <a:latin typeface="Arial" panose="020B06040202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en-US" sz="1800" b="1" spc="-10" dirty="0">
                <a:effectLst/>
                <a:latin typeface="Arial" panose="020B06040202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Description</a:t>
            </a:r>
            <a:r>
              <a:rPr lang="en-US" sz="1800" b="1" spc="-1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  <a:t>.</a:t>
            </a:r>
            <a:br>
              <a:rPr lang="en-US" sz="1800" b="1" dirty="0">
                <a:effectLst/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rPr>
            </a:b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9ED3CAB-D9A5-1477-FCA9-D19170345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11352212" cy="3811588"/>
          </a:xfrm>
        </p:spPr>
        <p:txBody>
          <a:bodyPr>
            <a:normAutofit/>
          </a:bodyPr>
          <a:lstStyle/>
          <a:p>
            <a:pPr marL="76200" marR="0">
              <a:lnSpc>
                <a:spcPct val="105000"/>
              </a:lnSpc>
              <a:spcBef>
                <a:spcPts val="1145"/>
              </a:spcBef>
              <a:buNone/>
            </a:pP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 MT"/>
              </a:rPr>
              <a:t>The</a:t>
            </a:r>
            <a:r>
              <a:rPr lang="en-US" sz="1400" spc="165" dirty="0">
                <a:effectLst/>
                <a:latin typeface="Arial" panose="020B0604020202020204" pitchFamily="34" charset="0"/>
                <a:ea typeface="Arial MT"/>
                <a:cs typeface="Arial MT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 MT"/>
              </a:rPr>
              <a:t>dashboard’s</a:t>
            </a:r>
            <a:r>
              <a:rPr lang="en-US" sz="1400" spc="165" dirty="0">
                <a:effectLst/>
                <a:latin typeface="Arial" panose="020B0604020202020204" pitchFamily="34" charset="0"/>
                <a:ea typeface="Arial MT"/>
                <a:cs typeface="Arial MT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 MT"/>
              </a:rPr>
              <a:t>color-coded</a:t>
            </a:r>
            <a:r>
              <a:rPr lang="en-US" sz="1400" spc="165" dirty="0">
                <a:effectLst/>
                <a:latin typeface="Arial" panose="020B0604020202020204" pitchFamily="34" charset="0"/>
                <a:ea typeface="Arial MT"/>
                <a:cs typeface="Arial MT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 MT"/>
              </a:rPr>
              <a:t>panels</a:t>
            </a:r>
            <a:r>
              <a:rPr lang="en-US" sz="1400" spc="165" dirty="0">
                <a:effectLst/>
                <a:latin typeface="Arial" panose="020B0604020202020204" pitchFamily="34" charset="0"/>
                <a:ea typeface="Arial MT"/>
                <a:cs typeface="Arial MT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 MT"/>
              </a:rPr>
              <a:t>help</a:t>
            </a:r>
            <a:r>
              <a:rPr lang="en-US" sz="1400" spc="165" dirty="0">
                <a:effectLst/>
                <a:latin typeface="Arial" panose="020B0604020202020204" pitchFamily="34" charset="0"/>
                <a:ea typeface="Arial MT"/>
                <a:cs typeface="Arial MT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 MT"/>
              </a:rPr>
              <a:t>you</a:t>
            </a:r>
            <a:r>
              <a:rPr lang="en-US" sz="1400" spc="165" dirty="0">
                <a:effectLst/>
                <a:latin typeface="Arial" panose="020B0604020202020204" pitchFamily="34" charset="0"/>
                <a:ea typeface="Arial MT"/>
                <a:cs typeface="Arial MT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 MT"/>
              </a:rPr>
              <a:t>quickly</a:t>
            </a:r>
            <a:r>
              <a:rPr lang="en-US" sz="1400" spc="165" dirty="0">
                <a:effectLst/>
                <a:latin typeface="Arial" panose="020B0604020202020204" pitchFamily="34" charset="0"/>
                <a:ea typeface="Arial MT"/>
                <a:cs typeface="Arial MT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 MT"/>
              </a:rPr>
              <a:t>assess</a:t>
            </a:r>
            <a:r>
              <a:rPr lang="en-US" sz="1400" spc="165" dirty="0">
                <a:effectLst/>
                <a:latin typeface="Arial" panose="020B0604020202020204" pitchFamily="34" charset="0"/>
                <a:ea typeface="Arial MT"/>
                <a:cs typeface="Arial MT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 MT"/>
              </a:rPr>
              <a:t>your</a:t>
            </a:r>
            <a:r>
              <a:rPr lang="en-US" sz="1400" spc="165" dirty="0">
                <a:effectLst/>
                <a:latin typeface="Arial" panose="020B0604020202020204" pitchFamily="34" charset="0"/>
                <a:ea typeface="Arial MT"/>
                <a:cs typeface="Arial MT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 MT"/>
              </a:rPr>
              <a:t>workload</a:t>
            </a:r>
            <a:r>
              <a:rPr lang="en-US" sz="1400" spc="165" dirty="0">
                <a:effectLst/>
                <a:latin typeface="Arial" panose="020B0604020202020204" pitchFamily="34" charset="0"/>
                <a:ea typeface="Arial MT"/>
                <a:cs typeface="Arial MT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 MT"/>
              </a:rPr>
              <a:t>and</a:t>
            </a:r>
            <a:r>
              <a:rPr lang="en-US" sz="1400" spc="165" dirty="0">
                <a:effectLst/>
                <a:latin typeface="Arial" panose="020B0604020202020204" pitchFamily="34" charset="0"/>
                <a:ea typeface="Arial MT"/>
                <a:cs typeface="Arial MT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 MT"/>
              </a:rPr>
              <a:t>performance:</a:t>
            </a:r>
            <a:r>
              <a:rPr lang="en-US" sz="1400" spc="165" dirty="0">
                <a:effectLst/>
                <a:latin typeface="Arial" panose="020B0604020202020204" pitchFamily="34" charset="0"/>
                <a:ea typeface="Arial MT"/>
                <a:cs typeface="Arial MT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 MT"/>
              </a:rPr>
              <a:t>-</a:t>
            </a:r>
            <a:r>
              <a:rPr lang="en-US" sz="1400" spc="175" dirty="0">
                <a:effectLst/>
                <a:latin typeface="Arial" panose="020B0604020202020204" pitchFamily="34" charset="0"/>
                <a:ea typeface="Arial MT"/>
                <a:cs typeface="Arial MT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 MT"/>
              </a:rPr>
              <a:t>Green Leads</a:t>
            </a:r>
            <a:r>
              <a:rPr lang="en-US" sz="1400" spc="-40" dirty="0">
                <a:effectLst/>
                <a:latin typeface="Arial" panose="020B0604020202020204" pitchFamily="34" charset="0"/>
                <a:ea typeface="Arial MT"/>
                <a:cs typeface="Arial MT"/>
              </a:rPr>
              <a:t> </a:t>
            </a:r>
            <a:r>
              <a:rPr lang="en-US" sz="1400" dirty="0">
                <a:effectLst/>
                <a:latin typeface="Arial" panose="020B0604020202020204" pitchFamily="34" charset="0"/>
                <a:ea typeface="Arial MT"/>
                <a:cs typeface="Arial MT"/>
              </a:rPr>
              <a:t>(green): High-priority leads likely to convert.</a:t>
            </a:r>
            <a:endParaRPr lang="en-US" sz="1400" dirty="0">
              <a:effectLst/>
              <a:latin typeface="Arial MT"/>
              <a:ea typeface="Arial MT"/>
              <a:cs typeface="Arial MT"/>
            </a:endParaRPr>
          </a:p>
          <a:p>
            <a:pPr marL="742950" marR="0" lvl="1" indent="-285750">
              <a:spcBef>
                <a:spcPts val="5"/>
              </a:spcBef>
              <a:buSzPts val="900"/>
              <a:buFont typeface="Arial MT"/>
              <a:buChar char="-"/>
              <a:tabLst>
                <a:tab pos="141605" algn="l"/>
              </a:tabLst>
            </a:pP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Amber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-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(yellow):</a:t>
            </a:r>
            <a:r>
              <a:rPr lang="en-US" spc="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Medium-priority</a:t>
            </a:r>
            <a:r>
              <a:rPr lang="en-US" spc="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4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needing</a:t>
            </a:r>
            <a:r>
              <a:rPr lang="en-US" spc="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more</a:t>
            </a:r>
            <a:r>
              <a:rPr lang="en-US" spc="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follow-</a:t>
            </a:r>
            <a:r>
              <a:rPr lang="en-US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up.</a:t>
            </a:r>
            <a:endParaRPr lang="en-US" spc="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742950" marR="0" lvl="1" indent="-285750">
              <a:spcBef>
                <a:spcPts val="85"/>
              </a:spcBef>
              <a:buSzPts val="900"/>
              <a:buFont typeface="Arial MT"/>
              <a:buChar char="-"/>
              <a:tabLst>
                <a:tab pos="141605" algn="l"/>
              </a:tabLst>
            </a:pP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Red</a:t>
            </a:r>
            <a:r>
              <a:rPr lang="en-US" spc="-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-8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(red):</a:t>
            </a:r>
            <a:r>
              <a:rPr lang="en-US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Low-probability</a:t>
            </a:r>
            <a:r>
              <a:rPr lang="en-US" spc="-3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or</a:t>
            </a:r>
            <a:r>
              <a:rPr lang="en-US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stalled</a:t>
            </a:r>
            <a:r>
              <a:rPr lang="en-US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leads.</a:t>
            </a:r>
            <a:endParaRPr lang="en-US" spc="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742950" marR="0" lvl="1" indent="-285750">
              <a:spcBef>
                <a:spcPts val="80"/>
              </a:spcBef>
              <a:buSzPts val="900"/>
              <a:buFont typeface="Arial MT"/>
              <a:buChar char="-"/>
              <a:tabLst>
                <a:tab pos="141605" algn="l"/>
              </a:tabLst>
            </a:pP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Follow</a:t>
            </a:r>
            <a:r>
              <a:rPr lang="en-US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Up</a:t>
            </a:r>
            <a:r>
              <a:rPr lang="en-US" spc="-6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Leads: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marked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for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another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contact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attempt.</a:t>
            </a:r>
            <a:endParaRPr lang="en-US" spc="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742950" marR="0" lvl="1" indent="-285750">
              <a:spcBef>
                <a:spcPts val="330"/>
              </a:spcBef>
              <a:buSzPts val="900"/>
              <a:buFont typeface="Arial MT"/>
              <a:buChar char="-"/>
              <a:tabLst>
                <a:tab pos="141605" algn="l"/>
              </a:tabLst>
            </a:pPr>
            <a:br>
              <a:rPr lang="en-US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</a:b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Query</a:t>
            </a:r>
            <a:r>
              <a:rPr lang="en-US" spc="-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-8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(light</a:t>
            </a:r>
            <a:r>
              <a:rPr lang="en-US" spc="-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green):</a:t>
            </a:r>
            <a:r>
              <a:rPr lang="en-US" spc="-6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awaiting</a:t>
            </a:r>
            <a:r>
              <a:rPr lang="en-US" spc="-6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response</a:t>
            </a:r>
            <a:r>
              <a:rPr lang="en-US" spc="-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to</a:t>
            </a:r>
            <a:r>
              <a:rPr lang="en-US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specific</a:t>
            </a:r>
            <a:r>
              <a:rPr lang="en-US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questions.</a:t>
            </a:r>
            <a:endParaRPr lang="en-US" spc="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742950" marR="0" lvl="1" indent="-285750">
              <a:spcBef>
                <a:spcPts val="85"/>
              </a:spcBef>
              <a:buSzPts val="900"/>
              <a:buFont typeface="Arial MT"/>
              <a:buChar char="-"/>
              <a:tabLst>
                <a:tab pos="141605" algn="l"/>
              </a:tabLst>
            </a:pP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Pre</a:t>
            </a:r>
            <a:r>
              <a:rPr lang="en-US" spc="-3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-3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(blue):</a:t>
            </a:r>
            <a:r>
              <a:rPr lang="en-US" spc="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New</a:t>
            </a:r>
            <a:r>
              <a:rPr lang="en-US" spc="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inquiries</a:t>
            </a:r>
            <a:r>
              <a:rPr lang="en-US" spc="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or</a:t>
            </a:r>
            <a:r>
              <a:rPr lang="en-US" spc="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partially</a:t>
            </a:r>
            <a:r>
              <a:rPr lang="en-US" spc="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qualified</a:t>
            </a:r>
            <a:r>
              <a:rPr lang="en-US" spc="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leads.</a:t>
            </a:r>
            <a:endParaRPr lang="en-US" spc="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742950" marR="0" lvl="1" indent="-285750">
              <a:spcBef>
                <a:spcPts val="80"/>
              </a:spcBef>
              <a:buSzPts val="900"/>
              <a:buFont typeface="Arial MT"/>
              <a:buChar char="-"/>
              <a:tabLst>
                <a:tab pos="141605" algn="l"/>
              </a:tabLst>
            </a:pP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-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</a:t>
            </a:r>
            <a:r>
              <a:rPr lang="en-US" spc="-8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Process</a:t>
            </a:r>
            <a:r>
              <a:rPr lang="en-US" spc="-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(orange):</a:t>
            </a:r>
            <a:r>
              <a:rPr lang="en-US" spc="-6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currently</a:t>
            </a:r>
            <a:r>
              <a:rPr lang="en-US" spc="-6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being</a:t>
            </a:r>
            <a:r>
              <a:rPr lang="en-US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processed</a:t>
            </a:r>
            <a:r>
              <a:rPr lang="en-US" spc="-6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by</a:t>
            </a:r>
            <a:r>
              <a:rPr lang="en-US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pc="-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loan</a:t>
            </a:r>
            <a:r>
              <a:rPr lang="en-US" spc="-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system.</a:t>
            </a:r>
            <a:endParaRPr lang="en-US" spc="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742950" marR="0" lvl="1" indent="-285750">
              <a:spcBef>
                <a:spcPts val="80"/>
              </a:spcBef>
              <a:buSzPts val="900"/>
              <a:buFont typeface="Arial MT"/>
              <a:buChar char="-"/>
              <a:tabLst>
                <a:tab pos="141605" algn="l"/>
              </a:tabLst>
            </a:pP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</a:t>
            </a:r>
            <a:r>
              <a:rPr lang="en-US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LOS</a:t>
            </a:r>
            <a:r>
              <a:rPr lang="en-US" spc="-6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(blue):</a:t>
            </a:r>
            <a:r>
              <a:rPr lang="en-US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actively</a:t>
            </a:r>
            <a:r>
              <a:rPr lang="en-US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</a:t>
            </a:r>
            <a:r>
              <a:rPr lang="en-US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loan</a:t>
            </a:r>
            <a:r>
              <a:rPr lang="en-US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origination</a:t>
            </a:r>
            <a:r>
              <a:rPr lang="en-US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workflow.</a:t>
            </a:r>
            <a:endParaRPr lang="en-US" spc="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742950" marR="0" lvl="1" indent="-285750">
              <a:spcBef>
                <a:spcPts val="80"/>
              </a:spcBef>
              <a:buSzPts val="900"/>
              <a:buFont typeface="Arial MT"/>
              <a:buChar char="-"/>
              <a:tabLst>
                <a:tab pos="141605" algn="l"/>
              </a:tabLst>
            </a:pP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Sanctioned/Disbursed</a:t>
            </a:r>
            <a:r>
              <a:rPr lang="en-US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(green):</a:t>
            </a:r>
            <a:r>
              <a:rPr lang="en-US" spc="-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Counts</a:t>
            </a:r>
            <a:r>
              <a:rPr lang="en-US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of</a:t>
            </a:r>
            <a:r>
              <a:rPr lang="en-US" spc="-3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approved</a:t>
            </a:r>
            <a:r>
              <a:rPr lang="en-US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and</a:t>
            </a:r>
            <a:r>
              <a:rPr lang="en-US" spc="-3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funded</a:t>
            </a:r>
            <a:r>
              <a:rPr lang="en-US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loans.</a:t>
            </a:r>
            <a:endParaRPr lang="en-US" spc="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742950" marR="0" lvl="1" indent="-285750">
              <a:spcBef>
                <a:spcPts val="80"/>
              </a:spcBef>
              <a:buSzPts val="900"/>
              <a:buFont typeface="Arial MT"/>
              <a:buChar char="-"/>
              <a:tabLst>
                <a:tab pos="141605" algn="l"/>
              </a:tabLst>
            </a:pP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Rejected</a:t>
            </a:r>
            <a:r>
              <a:rPr lang="en-US" spc="-7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(red):</a:t>
            </a:r>
            <a:r>
              <a:rPr lang="en-US" spc="-4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that</a:t>
            </a:r>
            <a:r>
              <a:rPr lang="en-US" spc="-3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did</a:t>
            </a:r>
            <a:r>
              <a:rPr lang="en-US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not</a:t>
            </a:r>
            <a:r>
              <a:rPr lang="en-US" spc="-3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meet</a:t>
            </a:r>
            <a:r>
              <a:rPr lang="en-US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criteria.</a:t>
            </a:r>
            <a:endParaRPr lang="en-US" spc="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742950" marR="74930" lvl="1" indent="-285750">
              <a:lnSpc>
                <a:spcPct val="117000"/>
              </a:lnSpc>
              <a:spcBef>
                <a:spcPts val="80"/>
              </a:spcBef>
              <a:buSzPts val="900"/>
              <a:buFont typeface="Arial MT"/>
              <a:buChar char="-"/>
              <a:tabLst>
                <a:tab pos="149860" algn="l"/>
              </a:tabLst>
            </a:pP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Influencer</a:t>
            </a:r>
            <a:r>
              <a:rPr lang="en-US" spc="-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-8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(blue):</a:t>
            </a:r>
            <a:r>
              <a:rPr lang="en-US" spc="-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-6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from</a:t>
            </a:r>
            <a:r>
              <a:rPr lang="en-US" spc="-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influencers,</a:t>
            </a:r>
            <a:r>
              <a:rPr lang="en-US" spc="-6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and</a:t>
            </a:r>
            <a:r>
              <a:rPr lang="en-US" spc="-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Unassigned</a:t>
            </a:r>
            <a:r>
              <a:rPr lang="en-US" spc="-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Influencer</a:t>
            </a:r>
            <a:r>
              <a:rPr lang="en-US" spc="-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Leads</a:t>
            </a:r>
            <a:r>
              <a:rPr lang="en-US" spc="-7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(red):</a:t>
            </a:r>
            <a:r>
              <a:rPr lang="en-US" spc="-6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those</a:t>
            </a:r>
            <a:r>
              <a:rPr lang="en-US" spc="-5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not</a:t>
            </a:r>
            <a:r>
              <a:rPr lang="en-US" spc="-6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pc="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yet assigned to an executive.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9587277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347</TotalTime>
  <Words>1319</Words>
  <Application>Microsoft Office PowerPoint</Application>
  <PresentationFormat>Widescreen</PresentationFormat>
  <Paragraphs>81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Arial MT</vt:lpstr>
      <vt:lpstr>Calibri</vt:lpstr>
      <vt:lpstr>Calibri Light</vt:lpstr>
      <vt:lpstr>Wingdings</vt:lpstr>
      <vt:lpstr>Office Theme</vt:lpstr>
      <vt:lpstr>Bizloan Sales Buddy App.</vt:lpstr>
      <vt:lpstr>Logging In and Checking In.</vt:lpstr>
      <vt:lpstr>Navigating the Dashboard</vt:lpstr>
      <vt:lpstr>Adding New Leads.</vt:lpstr>
      <vt:lpstr>Completing the Visit Detail Form.</vt:lpstr>
      <vt:lpstr>Submitting a New Lead</vt:lpstr>
      <vt:lpstr>Influencer App Flow.</vt:lpstr>
      <vt:lpstr>Influencer Onboard</vt:lpstr>
      <vt:lpstr>Dashboard Metrics Description.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Nitish Kumar</dc:creator>
  <cp:lastModifiedBy>Nitish Kumar</cp:lastModifiedBy>
  <cp:revision>28</cp:revision>
  <dcterms:created xsi:type="dcterms:W3CDTF">2025-05-13T09:07:22Z</dcterms:created>
  <dcterms:modified xsi:type="dcterms:W3CDTF">2025-05-14T08:49:17Z</dcterms:modified>
</cp:coreProperties>
</file>