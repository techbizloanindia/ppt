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59" r:id="rId6"/>
    <p:sldId id="260" r:id="rId7"/>
    <p:sldId id="261" r:id="rId8"/>
    <p:sldId id="262" r:id="rId9"/>
    <p:sldId id="263" r:id="rId10"/>
    <p:sldId id="267" r:id="rId11"/>
    <p:sldId id="264"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744" userDrawn="1">
          <p15:clr>
            <a:srgbClr val="A4A3A4"/>
          </p15:clr>
        </p15:guide>
        <p15:guide id="2" orient="horz" pos="504" userDrawn="1">
          <p15:clr>
            <a:srgbClr val="A4A3A4"/>
          </p15:clr>
        </p15:guide>
        <p15:guide id="3" orient="horz"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74" autoAdjust="0"/>
  </p:normalViewPr>
  <p:slideViewPr>
    <p:cSldViewPr snapToGrid="0" snapToObjects="1">
      <p:cViewPr>
        <p:scale>
          <a:sx n="70" d="100"/>
          <a:sy n="70" d="100"/>
        </p:scale>
        <p:origin x="1810" y="106"/>
      </p:cViewPr>
      <p:guideLst>
        <p:guide pos="3744"/>
        <p:guide orient="horz" pos="504"/>
        <p:guide orient="horz" pos="37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Title 1">
            <a:extLst>
              <a:ext uri="{FF2B5EF4-FFF2-40B4-BE49-F238E27FC236}">
                <a16:creationId xmlns:a16="http://schemas.microsoft.com/office/drawing/2014/main" id="{19E1007E-52FE-180D-8A91-63A22AB9E085}"/>
              </a:ext>
            </a:extLst>
          </p:cNvPr>
          <p:cNvSpPr txBox="1">
            <a:spLocks/>
          </p:cNvSpPr>
          <p:nvPr userDrawn="1"/>
        </p:nvSpPr>
        <p:spPr>
          <a:xfrm>
            <a:off x="0" y="-60325"/>
            <a:ext cx="9144000" cy="616688"/>
          </a:xfrm>
          <a:prstGeom prst="rect">
            <a:avLst/>
          </a:prstGeom>
        </p:spPr>
        <p:style>
          <a:lnRef idx="1">
            <a:schemeClr val="accent1"/>
          </a:lnRef>
          <a:fillRef idx="3">
            <a:schemeClr val="accent1"/>
          </a:fillRef>
          <a:effectRef idx="2">
            <a:schemeClr val="accent1"/>
          </a:effectRef>
          <a:fontRef idx="minor">
            <a:schemeClr val="lt1"/>
          </a:fontRef>
        </p:style>
        <p:txBody>
          <a:bodyP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endParaRPr lang="en-US" sz="3000" b="1"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9CA23AC-AD53-5416-B399-5533C2E5F979}"/>
              </a:ext>
            </a:extLst>
          </p:cNvPr>
          <p:cNvPicPr>
            <a:picLocks noChangeAspect="1"/>
          </p:cNvPicPr>
          <p:nvPr/>
        </p:nvPicPr>
        <p:blipFill>
          <a:blip r:embed="rId2"/>
          <a:srcRect l="42058" t="41956" r="44023" b="43883"/>
          <a:stretch/>
        </p:blipFill>
        <p:spPr>
          <a:xfrm>
            <a:off x="2780414" y="1200150"/>
            <a:ext cx="3583172" cy="1495425"/>
          </a:xfrm>
          <a:prstGeom prst="rect">
            <a:avLst/>
          </a:prstGeom>
        </p:spPr>
      </p:pic>
      <p:sp>
        <p:nvSpPr>
          <p:cNvPr id="9" name="Title 1"/>
          <p:cNvSpPr>
            <a:spLocks noGrp="1"/>
          </p:cNvSpPr>
          <p:nvPr>
            <p:ph type="ctrTitle"/>
          </p:nvPr>
        </p:nvSpPr>
        <p:spPr>
          <a:xfrm>
            <a:off x="685799" y="2477386"/>
            <a:ext cx="7990367" cy="1123064"/>
          </a:xfrm>
        </p:spPr>
        <p:txBody>
          <a:bodyPr>
            <a:normAutofit fontScale="90000"/>
          </a:bodyPr>
          <a:lstStyle/>
          <a:p>
            <a:r>
              <a:rPr lang="en-US" b="1" dirty="0"/>
              <a:t>Keka Employee Experience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C6D03C-9D65-7868-BE46-2C2D36725DBA}"/>
              </a:ext>
            </a:extLst>
          </p:cNvPr>
          <p:cNvSpPr>
            <a:spLocks noGrp="1"/>
          </p:cNvSpPr>
          <p:nvPr>
            <p:ph idx="1"/>
          </p:nvPr>
        </p:nvSpPr>
        <p:spPr>
          <a:xfrm>
            <a:off x="457200" y="751114"/>
            <a:ext cx="8229600" cy="5375049"/>
          </a:xfrm>
        </p:spPr>
        <p:txBody>
          <a:bodyPr/>
          <a:lstStyle/>
          <a:p>
            <a:pPr marL="342900" marR="0" lvl="0" indent="-342900">
              <a:lnSpc>
                <a:spcPct val="115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Purpose and Scope </a:t>
            </a:r>
          </a:p>
          <a:p>
            <a:pPr marL="457200" marR="0">
              <a:lnSpc>
                <a:spcPct val="115000"/>
              </a:lnSpc>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Standard Operating Procedure (SOP) provides comprehensive guidelines for employees to effectively utilize the Keka Employee Experience Platform for managing various workplace functions including attendance, leave management, expense reimbursement, payroll access, and team collaboration. </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buFont typeface="+mj-lt"/>
              <a:buAutoNum type="arabicPeriod"/>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System Overview</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Keka is a comprehensive employee experience platform that enables users to access finances, apply for leaves, reimburse expenses, praise teammates, and perform various other HR-related functions through a mobile application interface.</a:t>
            </a:r>
          </a:p>
          <a:p>
            <a:endParaRPr lang="en-US" dirty="0"/>
          </a:p>
        </p:txBody>
      </p:sp>
    </p:spTree>
    <p:extLst>
      <p:ext uri="{BB962C8B-B14F-4D97-AF65-F5344CB8AC3E}">
        <p14:creationId xmlns:p14="http://schemas.microsoft.com/office/powerpoint/2010/main" val="3792296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220" y="812163"/>
            <a:ext cx="4008752" cy="4801265"/>
          </a:xfrm>
        </p:spPr>
        <p:txBody>
          <a:bodyPr>
            <a:normAutofit/>
          </a:bodyPr>
          <a:lstStyle/>
          <a:p>
            <a:pPr>
              <a:lnSpc>
                <a:spcPct val="115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Access the Keka platform through the designated mobile application </a:t>
            </a:r>
          </a:p>
          <a:p>
            <a:pPr>
              <a:lnSpc>
                <a:spcPct val="115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Ensure you have the correct company URL.</a:t>
            </a:r>
          </a:p>
        </p:txBody>
      </p:sp>
      <p:pic>
        <p:nvPicPr>
          <p:cNvPr id="4" name="Picture 3" descr="STEP 1.jpg"/>
          <p:cNvPicPr>
            <a:picLocks noChangeAspect="1"/>
          </p:cNvPicPr>
          <p:nvPr/>
        </p:nvPicPr>
        <p:blipFill>
          <a:blip r:embed="rId2"/>
          <a:stretch>
            <a:fillRect/>
          </a:stretch>
        </p:blipFill>
        <p:spPr>
          <a:xfrm>
            <a:off x="5943600" y="812163"/>
            <a:ext cx="2920181" cy="5164621"/>
          </a:xfrm>
          <a:prstGeom prst="rect">
            <a:avLst/>
          </a:prstGeom>
        </p:spPr>
      </p:pic>
      <p:sp>
        <p:nvSpPr>
          <p:cNvPr id="6" name="TextBox 5">
            <a:extLst>
              <a:ext uri="{FF2B5EF4-FFF2-40B4-BE49-F238E27FC236}">
                <a16:creationId xmlns:a16="http://schemas.microsoft.com/office/drawing/2014/main" id="{AAF084E9-5E2D-9622-68BB-FE2C72B1A112}"/>
              </a:ext>
            </a:extLst>
          </p:cNvPr>
          <p:cNvSpPr txBox="1"/>
          <p:nvPr/>
        </p:nvSpPr>
        <p:spPr>
          <a:xfrm>
            <a:off x="399962" y="-32266"/>
            <a:ext cx="4620986" cy="523220"/>
          </a:xfrm>
          <a:prstGeom prst="rect">
            <a:avLst/>
          </a:prstGeom>
          <a:noFill/>
        </p:spPr>
        <p:txBody>
          <a:bodyPr wrap="square">
            <a:spAutoFit/>
          </a:bodyPr>
          <a:lstStyle/>
          <a:p>
            <a:r>
              <a:rPr lang="en-US" sz="2800" b="1" dirty="0">
                <a:solidFill>
                  <a:schemeClr val="bg1"/>
                </a:solidFill>
              </a:rPr>
              <a:t>Launch the Keka App</a:t>
            </a:r>
            <a:endParaRPr lang="en-US" sz="28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105" y="0"/>
            <a:ext cx="9048306" cy="574158"/>
          </a:xfrm>
        </p:spPr>
        <p:txBody>
          <a:bodyPr>
            <a:normAutofit/>
          </a:bodyPr>
          <a:lstStyle/>
          <a:p>
            <a:pPr algn="l"/>
            <a:r>
              <a:rPr sz="3000" b="1" dirty="0">
                <a:solidFill>
                  <a:schemeClr val="bg1"/>
                </a:solidFill>
              </a:rPr>
              <a:t>Initiate Login</a:t>
            </a:r>
          </a:p>
        </p:txBody>
      </p:sp>
      <p:sp>
        <p:nvSpPr>
          <p:cNvPr id="3" name="Content Placeholder 2"/>
          <p:cNvSpPr>
            <a:spLocks noGrp="1"/>
          </p:cNvSpPr>
          <p:nvPr>
            <p:ph idx="1"/>
          </p:nvPr>
        </p:nvSpPr>
        <p:spPr>
          <a:xfrm>
            <a:off x="522514" y="800100"/>
            <a:ext cx="4223657" cy="4936671"/>
          </a:xfrm>
        </p:spPr>
        <p:txBody>
          <a:bodyPr>
            <a:normAutofit/>
          </a:bodyPr>
          <a:lstStyle/>
          <a:p>
            <a:pPr marL="0" marR="0" indent="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Login Authentication The system provides multiple authentication methods:</a:t>
            </a:r>
          </a:p>
          <a:p>
            <a:pPr marL="342900" marR="0" lvl="0" indent="-342900">
              <a:lnSpc>
                <a:spcPct val="115000"/>
              </a:lnSpc>
              <a:buFont typeface="Symbol" panose="05050102010706020507" pitchFamily="18" charset="2"/>
              <a:buChar char=""/>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Email/Username Login</a:t>
            </a:r>
          </a:p>
          <a:p>
            <a:pPr marL="342900" marR="0" lvl="0" indent="-342900">
              <a:lnSpc>
                <a:spcPct val="115000"/>
              </a:lnSpc>
              <a:buFont typeface="Symbol" panose="05050102010706020507" pitchFamily="18" charset="2"/>
              <a:buChar char=""/>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Mobile Number Authentication</a:t>
            </a:r>
          </a:p>
          <a:p>
            <a:pPr marL="342900" marR="0" lvl="0" indent="-342900">
              <a:lnSpc>
                <a:spcPct val="115000"/>
              </a:lnSpc>
              <a:buFont typeface="Symbol" panose="05050102010706020507" pitchFamily="18" charset="2"/>
              <a:buChar char=""/>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Third-Party Authentication</a:t>
            </a:r>
          </a:p>
          <a:p>
            <a:pPr marL="742950" marR="0" lvl="1" indent="-285750">
              <a:lnSpc>
                <a:spcPct val="115000"/>
              </a:lnSpc>
              <a:buFont typeface="Courier New" panose="02070309020205020404" pitchFamily="49" charset="0"/>
              <a:buChar char="o"/>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Microsoft accounts ("Continue with Microsoft")  </a:t>
            </a:r>
          </a:p>
          <a:p>
            <a:pPr marL="742950" marR="0" lvl="1" indent="-285750">
              <a:lnSpc>
                <a:spcPct val="115000"/>
              </a:lnSpc>
              <a:buFont typeface="Courier New" panose="02070309020205020404" pitchFamily="49" charset="0"/>
              <a:buChar char="o"/>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Google accounts ("Continue with Google")  </a:t>
            </a:r>
          </a:p>
          <a:p>
            <a:pPr marL="742950" marR="0" lvl="1" indent="-285750">
              <a:lnSpc>
                <a:spcPct val="115000"/>
              </a:lnSpc>
              <a:spcAft>
                <a:spcPts val="800"/>
              </a:spcAft>
              <a:buFont typeface="Courier New" panose="02070309020205020404" pitchFamily="49" charset="0"/>
              <a:buChar char="o"/>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Username-based login ("Continue with Username")</a:t>
            </a:r>
          </a:p>
          <a:p>
            <a:pPr marL="0" marR="0" indent="0">
              <a:lnSpc>
                <a:spcPct val="115000"/>
              </a:lnSpc>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STEP 2.jpg"/>
          <p:cNvPicPr>
            <a:picLocks noChangeAspect="1"/>
          </p:cNvPicPr>
          <p:nvPr/>
        </p:nvPicPr>
        <p:blipFill>
          <a:blip r:embed="rId2"/>
          <a:stretch>
            <a:fillRect/>
          </a:stretch>
        </p:blipFill>
        <p:spPr>
          <a:xfrm>
            <a:off x="5943601" y="800100"/>
            <a:ext cx="3067050" cy="518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426" y="1"/>
            <a:ext cx="8549148" cy="466724"/>
          </a:xfrm>
        </p:spPr>
        <p:txBody>
          <a:bodyPr>
            <a:noAutofit/>
          </a:bodyPr>
          <a:lstStyle/>
          <a:p>
            <a:pPr algn="l"/>
            <a:r>
              <a:rPr sz="2800" b="1" dirty="0">
                <a:solidFill>
                  <a:schemeClr val="bg1"/>
                </a:solidFill>
                <a:ea typeface="Calibri" panose="020F0502020204030204" pitchFamily="34" charset="0"/>
                <a:cs typeface="Calibri" panose="020F0502020204030204" pitchFamily="34" charset="0"/>
              </a:rPr>
              <a:t>Log in with Mobile Number</a:t>
            </a:r>
          </a:p>
        </p:txBody>
      </p:sp>
      <p:sp>
        <p:nvSpPr>
          <p:cNvPr id="3" name="Content Placeholder 2"/>
          <p:cNvSpPr>
            <a:spLocks noGrp="1"/>
          </p:cNvSpPr>
          <p:nvPr>
            <p:ph idx="1"/>
          </p:nvPr>
        </p:nvSpPr>
        <p:spPr>
          <a:xfrm>
            <a:off x="382772" y="818501"/>
            <a:ext cx="4189228" cy="4972699"/>
          </a:xfrm>
          <a:ln>
            <a:noFill/>
          </a:ln>
        </p:spPr>
        <p:style>
          <a:lnRef idx="2">
            <a:schemeClr val="dk1"/>
          </a:lnRef>
          <a:fillRef idx="1">
            <a:schemeClr val="lt1"/>
          </a:fillRef>
          <a:effectRef idx="0">
            <a:schemeClr val="dk1"/>
          </a:effectRef>
          <a:fontRef idx="minor">
            <a:schemeClr val="dk1"/>
          </a:fontRef>
        </p:style>
        <p:txBody>
          <a:bodyPr>
            <a:normAutofit/>
          </a:bodyPr>
          <a:lstStyle/>
          <a:p>
            <a:r>
              <a:rPr sz="2000" b="1" dirty="0"/>
              <a:t>Select **Continue with Mobile**</a:t>
            </a:r>
            <a:endParaRPr lang="en-US" sz="2000" b="1" dirty="0"/>
          </a:p>
          <a:p>
            <a:pPr lvl="1">
              <a:buFont typeface="Wingdings" panose="05000000000000000000" pitchFamily="2" charset="2"/>
              <a:buChar char="Ø"/>
            </a:pPr>
            <a:r>
              <a:rPr sz="2000" dirty="0"/>
              <a:t>Enter your registered mobile number, then tap **Send OTP**.</a:t>
            </a:r>
            <a:endParaRPr lang="en-US" sz="2000" dirty="0"/>
          </a:p>
          <a:p>
            <a:pPr lvl="1">
              <a:buFont typeface="Wingdings" panose="05000000000000000000" pitchFamily="2" charset="2"/>
              <a:buChar char="Ø"/>
            </a:pPr>
            <a:r>
              <a:rPr sz="2000" dirty="0"/>
              <a:t>Enter the One‑Time Password (OTP) received via SMS to authenticate.</a:t>
            </a:r>
          </a:p>
        </p:txBody>
      </p:sp>
      <p:pic>
        <p:nvPicPr>
          <p:cNvPr id="4" name="Picture 3" descr="STEP 3.jpg"/>
          <p:cNvPicPr>
            <a:picLocks noChangeAspect="1"/>
          </p:cNvPicPr>
          <p:nvPr/>
        </p:nvPicPr>
        <p:blipFill>
          <a:blip r:embed="rId2"/>
          <a:stretch>
            <a:fillRect/>
          </a:stretch>
        </p:blipFill>
        <p:spPr>
          <a:xfrm>
            <a:off x="5943600" y="818501"/>
            <a:ext cx="3057525" cy="51346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520" y="9128"/>
            <a:ext cx="8229600" cy="544919"/>
          </a:xfrm>
        </p:spPr>
        <p:txBody>
          <a:bodyPr>
            <a:normAutofit/>
          </a:bodyPr>
          <a:lstStyle/>
          <a:p>
            <a:pPr algn="l"/>
            <a:r>
              <a:rPr sz="2800" b="1" dirty="0">
                <a:solidFill>
                  <a:schemeClr val="bg1"/>
                </a:solidFill>
              </a:rPr>
              <a:t>Home Dashboard</a:t>
            </a:r>
          </a:p>
        </p:txBody>
      </p:sp>
      <p:sp>
        <p:nvSpPr>
          <p:cNvPr id="3" name="Content Placeholder 2"/>
          <p:cNvSpPr>
            <a:spLocks noGrp="1"/>
          </p:cNvSpPr>
          <p:nvPr>
            <p:ph idx="1"/>
          </p:nvPr>
        </p:nvSpPr>
        <p:spPr>
          <a:xfrm>
            <a:off x="685800" y="809625"/>
            <a:ext cx="4800600" cy="5950404"/>
          </a:xfrm>
        </p:spPr>
        <p:txBody>
          <a:bodyPr>
            <a:normAutofit fontScale="92500" lnSpcReduction="10000"/>
          </a:bodyPr>
          <a:lstStyle/>
          <a:p>
            <a:pPr marL="0" indent="0">
              <a:buNone/>
            </a:pPr>
            <a:r>
              <a:rPr lang="en-US" sz="2200" dirty="0"/>
              <a:t>Upon successful authentication,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Dashboard Components</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Personal profile information and search functionality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Quick access buttons for primary functions </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Current shift information and clock-in capabilities </a:t>
            </a:r>
          </a:p>
          <a:p>
            <a:pPr marL="0" marR="0" indent="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Team updates and announcements section.</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Primary Function Buttons</a:t>
            </a:r>
          </a:p>
          <a:p>
            <a:pPr marL="342900" marR="0" lvl="0" indent="-342900">
              <a:lnSpc>
                <a:spcPct val="115000"/>
              </a:lnSpc>
              <a:buFont typeface="Wingdings" panose="05000000000000000000"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Apply Leave - Aircraft icon for leave application processes</a:t>
            </a:r>
          </a:p>
          <a:p>
            <a:pPr marL="342900" marR="0" lvl="0" indent="-342900">
              <a:lnSpc>
                <a:spcPct val="115000"/>
              </a:lnSpc>
              <a:buFont typeface="Wingdings" panose="05000000000000000000"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View Pay slip - Document icon for accessing salary information </a:t>
            </a:r>
          </a:p>
          <a:p>
            <a:pPr marL="342900" marR="0" lvl="0" indent="-342900">
              <a:lnSpc>
                <a:spcPct val="115000"/>
              </a:lnSpc>
              <a:buFont typeface="Wingdings" panose="05000000000000000000"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Raise Expense - Card icon for expense reimbursement submissions </a:t>
            </a:r>
          </a:p>
          <a:p>
            <a:pPr marL="342900" marR="0" lvl="0" indent="-342900">
              <a:lnSpc>
                <a:spcPct val="115000"/>
              </a:lnSpc>
              <a:buFont typeface="Wingdings" panose="05000000000000000000"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Leave Balance - List icon for viewing available leave credits</a:t>
            </a:r>
          </a:p>
          <a:p>
            <a:pPr marL="0" marR="0" indent="0">
              <a:lnSpc>
                <a:spcPct val="115000"/>
              </a:lnSpc>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STEP 4.jpg"/>
          <p:cNvPicPr>
            <a:picLocks noChangeAspect="1"/>
          </p:cNvPicPr>
          <p:nvPr/>
        </p:nvPicPr>
        <p:blipFill>
          <a:blip r:embed="rId2"/>
          <a:stretch>
            <a:fillRect/>
          </a:stretch>
        </p:blipFill>
        <p:spPr>
          <a:xfrm>
            <a:off x="5910905" y="887413"/>
            <a:ext cx="3014020" cy="5238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14" y="0"/>
            <a:ext cx="5171768" cy="496887"/>
          </a:xfrm>
        </p:spPr>
        <p:txBody>
          <a:bodyPr>
            <a:noAutofit/>
          </a:bodyPr>
          <a:lstStyle/>
          <a:p>
            <a:pPr algn="l"/>
            <a:r>
              <a:rPr sz="2800" b="1" dirty="0">
                <a:solidFill>
                  <a:schemeClr val="bg1"/>
                </a:solidFill>
              </a:rPr>
              <a:t>View Pay </a:t>
            </a:r>
            <a:r>
              <a:rPr lang="en-US" sz="2800" b="1" dirty="0">
                <a:solidFill>
                  <a:schemeClr val="bg1"/>
                </a:solidFill>
              </a:rPr>
              <a:t>S</a:t>
            </a:r>
            <a:r>
              <a:rPr sz="2800" b="1" dirty="0">
                <a:solidFill>
                  <a:schemeClr val="bg1"/>
                </a:solidFill>
              </a:rPr>
              <a:t>lip</a:t>
            </a:r>
          </a:p>
        </p:txBody>
      </p:sp>
      <p:sp>
        <p:nvSpPr>
          <p:cNvPr id="3" name="Content Placeholder 2"/>
          <p:cNvSpPr>
            <a:spLocks noGrp="1"/>
          </p:cNvSpPr>
          <p:nvPr>
            <p:ph idx="1"/>
          </p:nvPr>
        </p:nvSpPr>
        <p:spPr>
          <a:xfrm>
            <a:off x="585019" y="800101"/>
            <a:ext cx="5075552" cy="2944586"/>
          </a:xfrm>
        </p:spPr>
        <p:txBody>
          <a:bodyPr>
            <a:normAutofit/>
          </a:bodyPr>
          <a:lstStyle/>
          <a:p>
            <a:pPr marL="0" marR="0">
              <a:lnSpc>
                <a:spcPct val="115000"/>
              </a:lnSpc>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Pay slip Retrieval:</a:t>
            </a:r>
          </a:p>
          <a:p>
            <a:pPr marL="0" marR="0">
              <a:lnSpc>
                <a:spcPct val="115000"/>
              </a:lnSpc>
              <a:buFont typeface="Wingdings" panose="05000000000000000000" pitchFamily="2" charset="2"/>
              <a:buChar char="Ø"/>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Navigate to "View Pay slip" from the main dashboard</a:t>
            </a:r>
          </a:p>
          <a:p>
            <a:pPr marL="0" marR="0">
              <a:lnSpc>
                <a:spcPct val="115000"/>
              </a:lnSpc>
              <a:buFont typeface="Wingdings" panose="05000000000000000000" pitchFamily="2" charset="2"/>
              <a:buChar char="Ø"/>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If no pay slips are available, the system displays "No Pay slips generated yet“</a:t>
            </a:r>
          </a:p>
          <a:p>
            <a:pPr marL="0" marR="0">
              <a:lnSpc>
                <a:spcPct val="115000"/>
              </a:lnSpc>
              <a:buFont typeface="Wingdings" panose="05000000000000000000" pitchFamily="2" charset="2"/>
              <a:buChar char="Ø"/>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Contact your administrator if pay slips should be available but are not displayed</a:t>
            </a:r>
          </a:p>
        </p:txBody>
      </p:sp>
      <p:pic>
        <p:nvPicPr>
          <p:cNvPr id="4" name="Picture 3" descr="STEP 5.jpg"/>
          <p:cNvPicPr>
            <a:picLocks noChangeAspect="1"/>
          </p:cNvPicPr>
          <p:nvPr/>
        </p:nvPicPr>
        <p:blipFill>
          <a:blip r:embed="rId2"/>
          <a:stretch>
            <a:fillRect/>
          </a:stretch>
        </p:blipFill>
        <p:spPr>
          <a:xfrm>
            <a:off x="5867400" y="800100"/>
            <a:ext cx="3009900" cy="51657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549" y="-11112"/>
            <a:ext cx="8229600" cy="515937"/>
          </a:xfrm>
        </p:spPr>
        <p:txBody>
          <a:bodyPr>
            <a:noAutofit/>
          </a:bodyPr>
          <a:lstStyle/>
          <a:p>
            <a:pPr algn="l"/>
            <a:r>
              <a:rPr sz="2800" b="1" dirty="0">
                <a:solidFill>
                  <a:schemeClr val="bg1"/>
                </a:solidFill>
              </a:rPr>
              <a:t>Submit an Expense</a:t>
            </a:r>
          </a:p>
        </p:txBody>
      </p:sp>
      <p:sp>
        <p:nvSpPr>
          <p:cNvPr id="3" name="Content Placeholder 2"/>
          <p:cNvSpPr>
            <a:spLocks noGrp="1"/>
          </p:cNvSpPr>
          <p:nvPr>
            <p:ph idx="1"/>
          </p:nvPr>
        </p:nvSpPr>
        <p:spPr>
          <a:xfrm>
            <a:off x="348343" y="800100"/>
            <a:ext cx="5236028" cy="5189574"/>
          </a:xfrm>
        </p:spPr>
        <p:txBody>
          <a:bodyPr>
            <a:noAutofit/>
          </a:bodyPr>
          <a:lstStyle/>
          <a:p>
            <a:pPr marL="0" marR="0">
              <a:lnSpc>
                <a:spcPct val="115000"/>
              </a:lnSpc>
              <a:buFont typeface="Wingdings" panose="05000000000000000000" pitchFamily="2" charset="2"/>
              <a:buChar char="Ø"/>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Create Expense</a:t>
            </a:r>
            <a:r>
              <a:rPr lang="en-US" sz="1600" b="1" kern="100" dirty="0">
                <a:latin typeface="Calibri" panose="020F0502020204030204" pitchFamily="34" charset="0"/>
                <a:ea typeface="Calibri" panose="020F0502020204030204" pitchFamily="34" charset="0"/>
                <a:cs typeface="Times New Roman" panose="02020603050405020304" pitchFamily="18" charset="0"/>
              </a:rPr>
              <a:t> - </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Create individual expenses, mileage claims, per diem allowances, and other eligible expenses</a:t>
            </a:r>
          </a:p>
          <a:p>
            <a:pPr marL="0" marR="0">
              <a:lnSpc>
                <a:spcPct val="115000"/>
              </a:lnSpc>
              <a:buFont typeface="Wingdings" panose="05000000000000000000" pitchFamily="2" charset="2"/>
              <a:buChar char="Ø"/>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Club Expenses</a:t>
            </a:r>
            <a:r>
              <a:rPr lang="en-US" sz="1600" b="1" kern="100" dirty="0">
                <a:latin typeface="Calibri" panose="020F0502020204030204" pitchFamily="34" charset="0"/>
                <a:ea typeface="Calibri" panose="020F0502020204030204" pitchFamily="34" charset="0"/>
                <a:cs typeface="Times New Roman" panose="02020603050405020304" pitchFamily="18" charset="0"/>
              </a:rPr>
              <a:t> - </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Group related expenses into a single claim for processing efficiency</a:t>
            </a:r>
          </a:p>
          <a:p>
            <a:pPr marL="0" marR="0">
              <a:lnSpc>
                <a:spcPct val="115000"/>
              </a:lnSpc>
              <a:buFont typeface="Wingdings" panose="05000000000000000000" pitchFamily="2" charset="2"/>
              <a:buChar char="Ø"/>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Submit for Approval</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buFont typeface="Wingdings" panose="05000000000000000000" pitchFamily="2" charset="2"/>
              <a:buChar char="Ø"/>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Submit the compiled claim to designated approvers for review</a:t>
            </a:r>
          </a:p>
          <a:p>
            <a:pPr marL="0" marR="0">
              <a:lnSpc>
                <a:spcPct val="115000"/>
              </a:lnSpc>
              <a:buFont typeface="Wingdings" panose="05000000000000000000" pitchFamily="2" charset="2"/>
              <a:buChar char="Ø"/>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Get Paid:  </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Receive payment upon approval of the expense claim</a:t>
            </a:r>
          </a:p>
          <a:p>
            <a:pPr marL="0" marR="0">
              <a:lnSpc>
                <a:spcPct val="115000"/>
              </a:lnSpc>
              <a:buFont typeface="Wingdings" panose="05000000000000000000" pitchFamily="2" charset="2"/>
              <a:buChar char="Ø"/>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Adding New Expenses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15000"/>
              </a:lnSpc>
              <a:buSzPts val="1000"/>
              <a:buFont typeface="Symbol" panose="05050102010706020507" pitchFamily="18" charset="2"/>
              <a:buChar char=""/>
              <a:tabLst>
                <a:tab pos="457200" algn="l"/>
              </a:tabLst>
            </a:pPr>
            <a:r>
              <a:rPr lang="en-US" sz="1500" kern="100" dirty="0">
                <a:effectLst/>
                <a:latin typeface="Calibri" panose="020F0502020204030204" pitchFamily="34" charset="0"/>
                <a:ea typeface="Calibri" panose="020F0502020204030204" pitchFamily="34" charset="0"/>
                <a:cs typeface="Times New Roman" panose="02020603050405020304" pitchFamily="18" charset="0"/>
              </a:rPr>
              <a:t>Use the </a:t>
            </a:r>
            <a:r>
              <a:rPr lang="en-US" sz="1500" b="1" kern="100" dirty="0">
                <a:effectLst/>
                <a:latin typeface="Calibri" panose="020F0502020204030204" pitchFamily="34" charset="0"/>
                <a:ea typeface="Calibri" panose="020F0502020204030204" pitchFamily="34" charset="0"/>
                <a:cs typeface="Times New Roman" panose="02020603050405020304" pitchFamily="18" charset="0"/>
              </a:rPr>
              <a:t>"+ Add expense"</a:t>
            </a:r>
            <a:r>
              <a:rPr lang="en-US" sz="1500" kern="100" dirty="0">
                <a:effectLst/>
                <a:latin typeface="Calibri" panose="020F0502020204030204" pitchFamily="34" charset="0"/>
                <a:ea typeface="Calibri" panose="020F0502020204030204" pitchFamily="34" charset="0"/>
                <a:cs typeface="Times New Roman" panose="02020603050405020304" pitchFamily="18" charset="0"/>
              </a:rPr>
              <a:t> button to create new entries</a:t>
            </a:r>
          </a:p>
          <a:p>
            <a:pPr lvl="1" indent="-342900">
              <a:lnSpc>
                <a:spcPct val="115000"/>
              </a:lnSpc>
              <a:buSzPts val="1000"/>
              <a:buFont typeface="Symbol" panose="05050102010706020507" pitchFamily="18" charset="2"/>
              <a:buChar char=""/>
              <a:tabLst>
                <a:tab pos="457200" algn="l"/>
              </a:tabLst>
            </a:pPr>
            <a:r>
              <a:rPr lang="en-US" sz="1500" kern="100" dirty="0">
                <a:effectLst/>
                <a:latin typeface="Calibri" panose="020F0502020204030204" pitchFamily="34" charset="0"/>
                <a:ea typeface="Calibri" panose="020F0502020204030204" pitchFamily="34" charset="0"/>
                <a:cs typeface="Times New Roman" panose="02020603050405020304" pitchFamily="18" charset="0"/>
              </a:rPr>
              <a:t>Ensure all required documentation is properly attached</a:t>
            </a:r>
          </a:p>
          <a:p>
            <a:pPr lvl="1" indent="-342900">
              <a:lnSpc>
                <a:spcPct val="115000"/>
              </a:lnSpc>
              <a:buSzPts val="1000"/>
              <a:buFont typeface="Symbol" panose="05050102010706020507" pitchFamily="18" charset="2"/>
              <a:buChar char=""/>
              <a:tabLst>
                <a:tab pos="457200" algn="l"/>
              </a:tabLst>
            </a:pPr>
            <a:r>
              <a:rPr lang="en-US" sz="1500" kern="100" dirty="0">
                <a:effectLst/>
                <a:latin typeface="Calibri" panose="020F0502020204030204" pitchFamily="34" charset="0"/>
                <a:ea typeface="Calibri" panose="020F0502020204030204" pitchFamily="34" charset="0"/>
                <a:cs typeface="Times New Roman" panose="02020603050405020304" pitchFamily="18" charset="0"/>
              </a:rPr>
              <a:t>Follow company policies for expense categories and limits</a:t>
            </a:r>
          </a:p>
          <a:p>
            <a:pPr lvl="1" indent="-342900">
              <a:lnSpc>
                <a:spcPct val="115000"/>
              </a:lnSpc>
              <a:buSzPts val="1000"/>
              <a:buFont typeface="Symbol" panose="05050102010706020507" pitchFamily="18" charset="2"/>
              <a:buChar char=""/>
              <a:tabLst>
                <a:tab pos="457200" algn="l"/>
              </a:tabLst>
            </a:pPr>
            <a:r>
              <a:rPr lang="en-US" sz="1500" kern="100" dirty="0">
                <a:effectLst/>
                <a:latin typeface="Calibri" panose="020F0502020204030204" pitchFamily="34" charset="0"/>
                <a:ea typeface="Calibri" panose="020F0502020204030204" pitchFamily="34" charset="0"/>
                <a:cs typeface="Times New Roman" panose="02020603050405020304" pitchFamily="18" charset="0"/>
              </a:rPr>
              <a:t>Maintain accurate records for audit purposes</a:t>
            </a:r>
          </a:p>
        </p:txBody>
      </p:sp>
      <p:pic>
        <p:nvPicPr>
          <p:cNvPr id="4" name="Picture 3" descr="STEP 6.jpg"/>
          <p:cNvPicPr>
            <a:picLocks noChangeAspect="1"/>
          </p:cNvPicPr>
          <p:nvPr/>
        </p:nvPicPr>
        <p:blipFill>
          <a:blip r:embed="rId2"/>
          <a:stretch>
            <a:fillRect/>
          </a:stretch>
        </p:blipFill>
        <p:spPr>
          <a:xfrm>
            <a:off x="5943600" y="792126"/>
            <a:ext cx="2952750" cy="51895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3"/>
            <a:ext cx="8229600" cy="525462"/>
          </a:xfrm>
        </p:spPr>
        <p:txBody>
          <a:bodyPr>
            <a:normAutofit/>
          </a:bodyPr>
          <a:lstStyle/>
          <a:p>
            <a:pPr algn="l"/>
            <a:r>
              <a:rPr lang="en-US" sz="2800" b="1" dirty="0">
                <a:solidFill>
                  <a:schemeClr val="bg1"/>
                </a:solidFill>
              </a:rPr>
              <a:t>Apply Leave</a:t>
            </a:r>
            <a:endParaRPr sz="2800" b="1" dirty="0">
              <a:solidFill>
                <a:schemeClr val="bg1"/>
              </a:solidFill>
            </a:endParaRPr>
          </a:p>
        </p:txBody>
      </p:sp>
      <p:pic>
        <p:nvPicPr>
          <p:cNvPr id="4" name="Picture 3"/>
          <p:cNvPicPr>
            <a:picLocks noChangeAspect="1"/>
          </p:cNvPicPr>
          <p:nvPr/>
        </p:nvPicPr>
        <p:blipFill>
          <a:blip r:embed="rId2"/>
          <a:srcRect/>
          <a:stretch/>
        </p:blipFill>
        <p:spPr>
          <a:xfrm>
            <a:off x="6170811" y="800100"/>
            <a:ext cx="2766359" cy="5181600"/>
          </a:xfrm>
          <a:prstGeom prst="rect">
            <a:avLst/>
          </a:prstGeom>
        </p:spPr>
      </p:pic>
      <p:sp>
        <p:nvSpPr>
          <p:cNvPr id="18" name="TextBox 17">
            <a:extLst>
              <a:ext uri="{FF2B5EF4-FFF2-40B4-BE49-F238E27FC236}">
                <a16:creationId xmlns:a16="http://schemas.microsoft.com/office/drawing/2014/main" id="{D93F55D6-6C6C-BE99-E937-150F0C9191BC}"/>
              </a:ext>
            </a:extLst>
          </p:cNvPr>
          <p:cNvSpPr txBox="1"/>
          <p:nvPr/>
        </p:nvSpPr>
        <p:spPr>
          <a:xfrm>
            <a:off x="318408" y="800100"/>
            <a:ext cx="5146222" cy="2862322"/>
          </a:xfrm>
          <a:prstGeom prst="rect">
            <a:avLst/>
          </a:prstGeom>
          <a:noFill/>
        </p:spPr>
        <p:txBody>
          <a:bodyPr wrap="square">
            <a:spAutoFit/>
          </a:bodyPr>
          <a:lstStyle/>
          <a:p>
            <a:pPr marL="285750" indent="-285750">
              <a:buFont typeface="Wingdings" panose="05000000000000000000" pitchFamily="2" charset="2"/>
              <a:buChar char="Ø"/>
            </a:pPr>
            <a:r>
              <a:rPr lang="en-US" b="1" dirty="0"/>
              <a:t>Leave Application Process</a:t>
            </a:r>
          </a:p>
          <a:p>
            <a:pPr marL="742950" lvl="1" indent="-285750">
              <a:buFont typeface="Wingdings" panose="05000000000000000000" pitchFamily="2" charset="2"/>
              <a:buChar char="§"/>
            </a:pPr>
            <a:r>
              <a:rPr lang="en-US" dirty="0"/>
              <a:t>Navigate to the "Apply Leave" section from the main dashboard</a:t>
            </a:r>
          </a:p>
          <a:p>
            <a:pPr marL="742950" lvl="1" indent="-285750">
              <a:buFont typeface="Wingdings" panose="05000000000000000000" pitchFamily="2" charset="2"/>
              <a:buChar char="§"/>
            </a:pPr>
            <a:r>
              <a:rPr lang="en-US" dirty="0"/>
              <a:t>Select the appropriate leave type from available categories</a:t>
            </a:r>
          </a:p>
          <a:p>
            <a:pPr marL="742950" lvl="1" indent="-285750">
              <a:buFont typeface="Wingdings" panose="05000000000000000000" pitchFamily="2" charset="2"/>
              <a:buChar char="§"/>
            </a:pPr>
            <a:r>
              <a:rPr lang="en-US" dirty="0"/>
              <a:t>Specify the required dates and duration</a:t>
            </a:r>
          </a:p>
          <a:p>
            <a:pPr marL="742950" lvl="1" indent="-285750">
              <a:buFont typeface="Wingdings" panose="05000000000000000000" pitchFamily="2" charset="2"/>
              <a:buChar char="§"/>
            </a:pPr>
            <a:r>
              <a:rPr lang="en-US" dirty="0"/>
              <a:t>Submit the application for managerial approval</a:t>
            </a:r>
          </a:p>
          <a:p>
            <a:pPr marL="742950" lvl="1" indent="-285750">
              <a:buFont typeface="Wingdings" panose="05000000000000000000" pitchFamily="2" charset="2"/>
              <a:buChar char="§"/>
            </a:pPr>
            <a:r>
              <a:rPr lang="en-US" dirty="0"/>
              <a:t>Monitor application status through the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37F6-F538-5655-CDA1-1C815E12E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014C9-3E96-2F20-7842-67EEA6597ADD}"/>
              </a:ext>
            </a:extLst>
          </p:cNvPr>
          <p:cNvSpPr>
            <a:spLocks noGrp="1"/>
          </p:cNvSpPr>
          <p:nvPr>
            <p:ph type="title"/>
          </p:nvPr>
        </p:nvSpPr>
        <p:spPr>
          <a:xfrm>
            <a:off x="228600" y="-453"/>
            <a:ext cx="8229600" cy="525462"/>
          </a:xfrm>
        </p:spPr>
        <p:txBody>
          <a:bodyPr>
            <a:normAutofit/>
          </a:bodyPr>
          <a:lstStyle/>
          <a:p>
            <a:pPr algn="l"/>
            <a:r>
              <a:rPr lang="en-US" sz="2800" b="1" dirty="0">
                <a:solidFill>
                  <a:schemeClr val="bg1"/>
                </a:solidFill>
              </a:rPr>
              <a:t>Viewing Leave Balances</a:t>
            </a:r>
            <a:endParaRPr sz="2800" b="1" dirty="0">
              <a:solidFill>
                <a:schemeClr val="bg1"/>
              </a:solidFill>
            </a:endParaRPr>
          </a:p>
        </p:txBody>
      </p:sp>
      <p:pic>
        <p:nvPicPr>
          <p:cNvPr id="4" name="Picture 3" descr="STEP 7.jpg">
            <a:extLst>
              <a:ext uri="{FF2B5EF4-FFF2-40B4-BE49-F238E27FC236}">
                <a16:creationId xmlns:a16="http://schemas.microsoft.com/office/drawing/2014/main" id="{CD20C43D-DADA-0C81-63BC-30DD9A0C2D22}"/>
              </a:ext>
            </a:extLst>
          </p:cNvPr>
          <p:cNvPicPr>
            <a:picLocks noChangeAspect="1"/>
          </p:cNvPicPr>
          <p:nvPr/>
        </p:nvPicPr>
        <p:blipFill>
          <a:blip r:embed="rId2"/>
          <a:stretch>
            <a:fillRect/>
          </a:stretch>
        </p:blipFill>
        <p:spPr>
          <a:xfrm>
            <a:off x="5943600" y="800100"/>
            <a:ext cx="2971800" cy="5181600"/>
          </a:xfrm>
          <a:prstGeom prst="rect">
            <a:avLst/>
          </a:prstGeom>
        </p:spPr>
      </p:pic>
      <p:sp>
        <p:nvSpPr>
          <p:cNvPr id="14" name="TextBox 13">
            <a:extLst>
              <a:ext uri="{FF2B5EF4-FFF2-40B4-BE49-F238E27FC236}">
                <a16:creationId xmlns:a16="http://schemas.microsoft.com/office/drawing/2014/main" id="{698F66DF-6607-5BF1-557B-C3561BB278ED}"/>
              </a:ext>
            </a:extLst>
          </p:cNvPr>
          <p:cNvSpPr txBox="1"/>
          <p:nvPr/>
        </p:nvSpPr>
        <p:spPr>
          <a:xfrm>
            <a:off x="108857" y="957978"/>
            <a:ext cx="5516336" cy="3139321"/>
          </a:xfrm>
          <a:prstGeom prst="rect">
            <a:avLst/>
          </a:prstGeom>
          <a:noFill/>
        </p:spPr>
        <p:txBody>
          <a:bodyPr wrap="square">
            <a:spAutoFit/>
          </a:bodyPr>
          <a:lstStyle/>
          <a:p>
            <a:r>
              <a:rPr lang="en-US" b="1" dirty="0"/>
              <a:t>Access the Leave Balance section to review:</a:t>
            </a:r>
          </a:p>
          <a:p>
            <a:pPr marL="742950" lvl="1" indent="-285750">
              <a:buFont typeface="Wingdings" panose="05000000000000000000" pitchFamily="2" charset="2"/>
              <a:buChar char="Ø"/>
            </a:pPr>
            <a:r>
              <a:rPr lang="en-US" dirty="0"/>
              <a:t>Bereavement Leave: 3 days available, 0 days consumed</a:t>
            </a:r>
          </a:p>
          <a:p>
            <a:pPr marL="742950" lvl="1" indent="-285750">
              <a:buFont typeface="Wingdings" panose="05000000000000000000" pitchFamily="2" charset="2"/>
              <a:buChar char="Ø"/>
            </a:pPr>
            <a:r>
              <a:rPr lang="en-US" dirty="0"/>
              <a:t>Casual Leave: 0.5 days available, 0 days consumed</a:t>
            </a:r>
          </a:p>
          <a:p>
            <a:pPr marL="742950" lvl="1" indent="-285750">
              <a:buFont typeface="Wingdings" panose="05000000000000000000" pitchFamily="2" charset="2"/>
              <a:buChar char="Ø"/>
            </a:pPr>
            <a:r>
              <a:rPr lang="en-US" dirty="0"/>
              <a:t>Paternity Leave: 15 days available, 0 days consumed</a:t>
            </a:r>
          </a:p>
          <a:p>
            <a:pPr marL="742950" lvl="1" indent="-285750">
              <a:buFont typeface="Wingdings" panose="05000000000000000000" pitchFamily="2" charset="2"/>
              <a:buChar char="Ø"/>
            </a:pPr>
            <a:r>
              <a:rPr lang="en-US" dirty="0"/>
              <a:t>Privilege Leave: 1.5 days available, 0 days consumed</a:t>
            </a:r>
          </a:p>
          <a:p>
            <a:pPr marL="742950" lvl="1" indent="-285750">
              <a:buFont typeface="Wingdings" panose="05000000000000000000" pitchFamily="2" charset="2"/>
              <a:buChar char="Ø"/>
            </a:pPr>
            <a:r>
              <a:rPr lang="en-US" dirty="0"/>
              <a:t>Sick Leave: 0.5 days available, 0 days consumed</a:t>
            </a:r>
          </a:p>
          <a:p>
            <a:pPr marL="742950" lvl="1" indent="-285750">
              <a:buFont typeface="Wingdings" panose="05000000000000000000" pitchFamily="2" charset="2"/>
              <a:buChar char="Ø"/>
            </a:pPr>
            <a:r>
              <a:rPr lang="en-US" dirty="0"/>
              <a:t>Unpaid Leave: Unlimited (∞), 1 day consumed</a:t>
            </a:r>
          </a:p>
        </p:txBody>
      </p:sp>
    </p:spTree>
    <p:extLst>
      <p:ext uri="{BB962C8B-B14F-4D97-AF65-F5344CB8AC3E}">
        <p14:creationId xmlns:p14="http://schemas.microsoft.com/office/powerpoint/2010/main" val="2524541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464603"/>
          </a:xfrm>
        </p:spPr>
        <p:txBody>
          <a:bodyPr>
            <a:normAutofit fontScale="90000"/>
          </a:bodyPr>
          <a:lstStyle/>
          <a:p>
            <a:pPr algn="l"/>
            <a:r>
              <a:rPr sz="2800" b="1" dirty="0">
                <a:solidFill>
                  <a:schemeClr val="bg1"/>
                </a:solidFill>
              </a:rPr>
              <a:t>Review Leave History</a:t>
            </a:r>
          </a:p>
        </p:txBody>
      </p:sp>
      <p:sp>
        <p:nvSpPr>
          <p:cNvPr id="3" name="Content Placeholder 2"/>
          <p:cNvSpPr>
            <a:spLocks noGrp="1"/>
          </p:cNvSpPr>
          <p:nvPr>
            <p:ph idx="1"/>
          </p:nvPr>
        </p:nvSpPr>
        <p:spPr>
          <a:xfrm>
            <a:off x="457200" y="809625"/>
            <a:ext cx="4713514" cy="5090432"/>
          </a:xfrm>
        </p:spPr>
        <p:txBody>
          <a:bodyPr>
            <a:normAutofit/>
          </a:bodyPr>
          <a:lstStyle/>
          <a:p>
            <a:pPr>
              <a:buFont typeface="Wingdings" panose="05000000000000000000" pitchFamily="2" charset="2"/>
              <a:buChar char="Ø"/>
            </a:pPr>
            <a:r>
              <a:rPr lang="en-US" sz="1800" dirty="0"/>
              <a:t>Access "Leave History" tab to view past applications</a:t>
            </a:r>
          </a:p>
          <a:p>
            <a:pPr>
              <a:buFont typeface="Wingdings" panose="05000000000000000000" pitchFamily="2" charset="2"/>
              <a:buChar char="Ø"/>
            </a:pPr>
            <a:r>
              <a:rPr lang="en-US" sz="1800" dirty="0"/>
              <a:t>Review applications by date range (e.g., "Apr 2025 - Mar 2026")</a:t>
            </a:r>
          </a:p>
          <a:p>
            <a:pPr>
              <a:buFont typeface="Wingdings" panose="05000000000000000000" pitchFamily="2" charset="2"/>
              <a:buChar char="Ø"/>
            </a:pPr>
            <a:r>
              <a:rPr lang="en-US" sz="1800" dirty="0"/>
              <a:t>Check approval status (e.g., "APPROVED" for May 05 Unpaid Leave)</a:t>
            </a:r>
            <a:endParaRPr sz="1800" dirty="0"/>
          </a:p>
        </p:txBody>
      </p:sp>
      <p:pic>
        <p:nvPicPr>
          <p:cNvPr id="4" name="Picture 3" descr="STEP 8.jpg"/>
          <p:cNvPicPr>
            <a:picLocks noChangeAspect="1"/>
          </p:cNvPicPr>
          <p:nvPr/>
        </p:nvPicPr>
        <p:blipFill>
          <a:blip r:embed="rId2"/>
          <a:stretch>
            <a:fillRect/>
          </a:stretch>
        </p:blipFill>
        <p:spPr>
          <a:xfrm>
            <a:off x="6005624" y="809625"/>
            <a:ext cx="2938351" cy="51720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681"/>
            <a:ext cx="8229600" cy="613181"/>
          </a:xfrm>
        </p:spPr>
        <p:txBody>
          <a:bodyPr>
            <a:normAutofit/>
          </a:bodyPr>
          <a:lstStyle/>
          <a:p>
            <a:pPr algn="l"/>
            <a:r>
              <a:rPr sz="2800" b="1" dirty="0">
                <a:solidFill>
                  <a:schemeClr val="bg1"/>
                </a:solidFill>
              </a:rPr>
              <a:t>Access Profile &amp; Logout</a:t>
            </a:r>
          </a:p>
        </p:txBody>
      </p:sp>
      <p:sp>
        <p:nvSpPr>
          <p:cNvPr id="3" name="Content Placeholder 2"/>
          <p:cNvSpPr>
            <a:spLocks noGrp="1"/>
          </p:cNvSpPr>
          <p:nvPr>
            <p:ph idx="1"/>
          </p:nvPr>
        </p:nvSpPr>
        <p:spPr>
          <a:xfrm>
            <a:off x="659219" y="866775"/>
            <a:ext cx="5110210" cy="5114925"/>
          </a:xfrm>
        </p:spPr>
        <p:txBody>
          <a:bodyPr>
            <a:normAutofit/>
          </a:bodyPr>
          <a:lstStyle/>
          <a:p>
            <a:pPr>
              <a:buFont typeface="Wingdings" panose="05000000000000000000" pitchFamily="2" charset="2"/>
              <a:buChar char="Ø"/>
            </a:pPr>
            <a:r>
              <a:rPr lang="en-US" sz="1800" dirty="0"/>
              <a:t>Configuration Options</a:t>
            </a:r>
          </a:p>
          <a:p>
            <a:pPr lvl="1">
              <a:buFont typeface="Wingdings" panose="05000000000000000000" pitchFamily="2" charset="2"/>
              <a:buChar char="§"/>
            </a:pPr>
            <a:r>
              <a:rPr lang="en-US" sz="1800" dirty="0"/>
              <a:t>Company Information: </a:t>
            </a:r>
            <a:r>
              <a:rPr lang="en-US" sz="1800" dirty="0" err="1"/>
              <a:t>Bizloan</a:t>
            </a:r>
            <a:r>
              <a:rPr lang="en-US" sz="1800" dirty="0"/>
              <a:t> Private Limited</a:t>
            </a:r>
          </a:p>
          <a:p>
            <a:pPr lvl="1">
              <a:buFont typeface="Wingdings" panose="05000000000000000000" pitchFamily="2" charset="2"/>
              <a:buChar char="§"/>
            </a:pPr>
            <a:r>
              <a:rPr lang="en-US" sz="1800" dirty="0"/>
              <a:t>Language Settings: English (default)</a:t>
            </a:r>
          </a:p>
          <a:p>
            <a:pPr lvl="1">
              <a:buFont typeface="Wingdings" panose="05000000000000000000" pitchFamily="2" charset="2"/>
              <a:buChar char="§"/>
            </a:pPr>
            <a:r>
              <a:rPr lang="en-US" sz="1800" dirty="0"/>
              <a:t>Theme Preferences: Automatic mode</a:t>
            </a:r>
          </a:p>
          <a:p>
            <a:pPr lvl="1">
              <a:buFont typeface="Wingdings" panose="05000000000000000000" pitchFamily="2" charset="2"/>
              <a:buChar char="§"/>
            </a:pPr>
            <a:r>
              <a:rPr lang="en-US" sz="1800" dirty="0"/>
              <a:t>URL Access: bizloanindia.keka.com</a:t>
            </a:r>
            <a:endParaRPr sz="1800" dirty="0"/>
          </a:p>
        </p:txBody>
      </p:sp>
      <p:pic>
        <p:nvPicPr>
          <p:cNvPr id="4" name="Picture 3" descr="STEP 9.jpg"/>
          <p:cNvPicPr>
            <a:picLocks noChangeAspect="1"/>
          </p:cNvPicPr>
          <p:nvPr/>
        </p:nvPicPr>
        <p:blipFill>
          <a:blip r:embed="rId2"/>
          <a:stretch>
            <a:fillRect/>
          </a:stretch>
        </p:blipFill>
        <p:spPr>
          <a:xfrm>
            <a:off x="5943600" y="800100"/>
            <a:ext cx="3019425" cy="518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TotalTime>
  <Words>598</Words>
  <Application>Microsoft Office PowerPoint</Application>
  <PresentationFormat>On-screen Show (4:3)</PresentationFormat>
  <Paragraphs>73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Courier New</vt:lpstr>
      <vt:lpstr>Symbol</vt:lpstr>
      <vt:lpstr>Wingdings</vt:lpstr>
      <vt:lpstr>Office Theme</vt:lpstr>
      <vt:lpstr>Keka Employee Experience Platform</vt:lpstr>
      <vt:lpstr>PowerPoint Presentation</vt:lpstr>
      <vt:lpstr>PowerPoint Presentation</vt:lpstr>
      <vt:lpstr>Initiate Login</vt:lpstr>
      <vt:lpstr>Log in with Mobile Number</vt:lpstr>
      <vt:lpstr>Home Dashboard</vt:lpstr>
      <vt:lpstr>View Pay Slip</vt:lpstr>
      <vt:lpstr>Submit an Expense</vt:lpstr>
      <vt:lpstr>Apply Leave</vt:lpstr>
      <vt:lpstr>Viewing Leave Balances</vt:lpstr>
      <vt:lpstr>Review Leave History</vt:lpstr>
      <vt:lpstr>Access Profile &amp; Logout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Nitish Kumar</cp:lastModifiedBy>
  <cp:revision>58</cp:revision>
  <dcterms:created xsi:type="dcterms:W3CDTF">2013-01-27T09:14:16Z</dcterms:created>
  <dcterms:modified xsi:type="dcterms:W3CDTF">2025-05-22T13:46:31Z</dcterms:modified>
  <cp:category/>
</cp:coreProperties>
</file>